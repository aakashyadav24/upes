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jpeg"/><Relationship Id="rId8" Type="http://schemas.openxmlformats.org/officeDocument/2006/relationships/image" Target="../media/image13.emf"/><Relationship Id="rId7" Type="http://schemas.openxmlformats.org/officeDocument/2006/relationships/image" Target="../media/image12.emf"/><Relationship Id="rId6" Type="http://schemas.openxmlformats.org/officeDocument/2006/relationships/image" Target="../media/image11.emf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16.emf"/><Relationship Id="rId10" Type="http://schemas.openxmlformats.org/officeDocument/2006/relationships/image" Target="../media/image15.jpe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GIF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</a:t>
            </a:r>
            <a:r>
              <a:rPr lang="en-US" altLang="en-IN" sz="2800" b="1" dirty="0">
                <a:solidFill>
                  <a:srgbClr val="7030A0"/>
                </a:solidFill>
              </a:rPr>
              <a:t>Syed Sajid Hussain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  <a:endParaRPr lang="en-IN" sz="28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536" y="600074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THE JOURNEY</a:t>
            </a:r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 Together…!!!</a:t>
            </a:r>
            <a:endParaRPr lang="en-IN" sz="54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Brief History of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2002932"/>
            <a:ext cx="1895475" cy="23949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18468" y="3997757"/>
            <a:ext cx="1762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</a:rPr>
              <a:t>James Gosling</a:t>
            </a:r>
            <a:endParaRPr lang="en-IN" sz="2000" b="1" dirty="0">
              <a:solidFill>
                <a:srgbClr val="002060"/>
              </a:solidFill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3714750" y="1290638"/>
            <a:ext cx="7646988" cy="48482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James Gosling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IN" sz="24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Mike Sheridan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and </a:t>
            </a:r>
            <a:r>
              <a:rPr lang="en-IN" sz="2400" b="1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Patrick Naughton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initiated the </a:t>
            </a:r>
            <a:r>
              <a:rPr lang="en-IN" sz="24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language project in June 1991. This small team of </a:t>
            </a:r>
            <a:r>
              <a:rPr lang="en-IN" sz="2400" b="0" i="0" u="none" strike="noStrike" baseline="0" dirty="0">
                <a:solidFill>
                  <a:srgbClr val="0000FF"/>
                </a:solidFill>
                <a:latin typeface="Times New Roman" panose="02020603050405020304" pitchFamily="18" charset="0"/>
              </a:rPr>
              <a:t>Sun engineers </a:t>
            </a:r>
            <a:r>
              <a:rPr lang="en-IN" sz="2400" dirty="0">
                <a:latin typeface="Times New Roman" panose="02020603050405020304" pitchFamily="18" charset="0"/>
              </a:rPr>
              <a:t>was 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called </a:t>
            </a:r>
            <a:r>
              <a:rPr lang="en-IN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Green Team</a:t>
            </a:r>
            <a:r>
              <a:rPr lang="en-IN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I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Firstly, the language was called “</a:t>
            </a:r>
            <a:r>
              <a:rPr lang="en-US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Greentalk</a:t>
            </a:r>
            <a:r>
              <a:rPr lang="en-US" sz="2400" dirty="0">
                <a:latin typeface="Times New Roman" panose="02020603050405020304" pitchFamily="18" charset="0"/>
              </a:rPr>
              <a:t>” </a:t>
            </a:r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by James Gosling, and file extension was .gt.</a:t>
            </a:r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</a:t>
            </a: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was originally designed for small, embedded systems in electronic appliances like set-top boxes, but at that time, it was too advanced technology for the digital cable television industry.</a:t>
            </a:r>
            <a:endParaRPr lang="en-IN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After that, it was called </a:t>
            </a:r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Oak</a:t>
            </a: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, and was developed as a part of the </a:t>
            </a:r>
            <a:r>
              <a:rPr lang="en-IN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Green</a:t>
            </a: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project. Java team-members initiated this project to develop a language for digital devices.</a:t>
            </a:r>
            <a:endParaRPr lang="en-IN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4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Later, Java technology was incorporated by </a:t>
            </a:r>
            <a:r>
              <a:rPr lang="en-IN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Netscape</a:t>
            </a:r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 as it was suited for networking.</a:t>
            </a:r>
            <a:endParaRPr lang="en-IN" sz="2400" b="0" i="0" u="none" strike="noStrike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Why the name JAVA???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5076725" y="1107282"/>
            <a:ext cx="6610351" cy="2593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b="1" i="0" u="none" strike="noStrike" baseline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</a:t>
            </a:r>
            <a:r>
              <a:rPr lang="en-IN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was called </a:t>
            </a:r>
            <a:r>
              <a:rPr lang="en-IN" sz="22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Oak</a:t>
            </a:r>
            <a:r>
              <a:rPr lang="en-IN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as it is a symbol of strength and chosen as a national tree of many countries like U.S.A., France, Germany, Romania, etc.</a:t>
            </a:r>
            <a:endParaRPr lang="en-IN" sz="2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200" b="0" i="0" u="none" strike="noStrike" baseline="0" dirty="0">
                <a:latin typeface="Times New Roman" panose="02020603050405020304" pitchFamily="18" charset="0"/>
              </a:rPr>
              <a:t>The team wanted something that reflected the essence of the technology: revolutionary, dynamic, lively, cool, unique, and easy to spell and fun to say.</a:t>
            </a:r>
            <a:endParaRPr lang="en-US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75" y="1519237"/>
            <a:ext cx="3350677" cy="2181225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3867151"/>
            <a:ext cx="3671985" cy="242887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5" name="Title 1"/>
          <p:cNvSpPr txBox="1"/>
          <p:nvPr/>
        </p:nvSpPr>
        <p:spPr>
          <a:xfrm>
            <a:off x="1362074" y="3586162"/>
            <a:ext cx="6610351" cy="282416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1995, </a:t>
            </a:r>
            <a:r>
              <a:rPr lang="en-IN" sz="22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Oak</a:t>
            </a:r>
            <a:r>
              <a:rPr lang="en-IN" sz="2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was renamed as </a:t>
            </a:r>
            <a:r>
              <a:rPr lang="en-IN" sz="2200" b="0" i="0" u="none" strike="noStrike" baseline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 </a:t>
            </a:r>
            <a:r>
              <a:rPr lang="en-IN" sz="2200" b="0" i="0" u="none" strike="noStrike" baseline="0" dirty="0">
                <a:latin typeface="Times New Roman" panose="02020603050405020304" pitchFamily="18" charset="0"/>
              </a:rPr>
              <a:t>(An island of Indonesia is named </a:t>
            </a:r>
            <a:r>
              <a:rPr lang="en-IN" sz="2200" b="0" i="0" u="none" strike="noStrike" baseline="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</a:t>
            </a:r>
            <a:r>
              <a:rPr lang="en-IN" sz="2200" b="0" i="0" u="none" strike="noStrike" baseline="0" dirty="0">
                <a:latin typeface="Times New Roman" panose="02020603050405020304" pitchFamily="18" charset="0"/>
              </a:rPr>
              <a:t> where first coffee was produced</a:t>
            </a:r>
            <a:r>
              <a:rPr lang="en-IN" sz="2200" dirty="0">
                <a:latin typeface="Times New Roman" panose="02020603050405020304" pitchFamily="18" charset="0"/>
              </a:rPr>
              <a:t>, </a:t>
            </a:r>
            <a:r>
              <a:rPr lang="en-IN" sz="2200" b="0" i="0" u="none" strike="noStrike" baseline="0" dirty="0">
                <a:latin typeface="Times New Roman" panose="02020603050405020304" pitchFamily="18" charset="0"/>
              </a:rPr>
              <a:t>called java coffee)</a:t>
            </a:r>
            <a:endParaRPr lang="en-IN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</a:rPr>
              <a:t>In 1995, Time Magazine </a:t>
            </a: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called Java one of ten best products of 1995</a:t>
            </a:r>
            <a:r>
              <a:rPr lang="en-IN" sz="2200" dirty="0">
                <a:latin typeface="Times New Roman" panose="02020603050405020304" pitchFamily="18" charset="0"/>
              </a:rPr>
              <a:t>.</a:t>
            </a: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b="0" i="0" u="none" strike="noStrike" baseline="0" dirty="0">
                <a:solidFill>
                  <a:srgbClr val="0070C0"/>
                </a:solidFill>
                <a:latin typeface="Times New Roman" panose="02020603050405020304" pitchFamily="18" charset="0"/>
              </a:rPr>
              <a:t>JDK </a:t>
            </a:r>
            <a:r>
              <a:rPr lang="en-IN" sz="2200" b="0" i="0" u="none" strike="noStrike" baseline="0" dirty="0">
                <a:latin typeface="Times New Roman" panose="02020603050405020304" pitchFamily="18" charset="0"/>
              </a:rPr>
              <a:t>(Java Development Kit) 1.0 released in January23, 1996.</a:t>
            </a:r>
            <a:endParaRPr lang="en-IN" sz="22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sz="2400" b="0" i="0" u="none" strike="noStrike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Characteristics of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38" name="Picture 14" descr="Java logo and symbol, meaning, history, 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394" y="2833689"/>
            <a:ext cx="2843212" cy="198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3857625" y="2552700"/>
            <a:ext cx="816769" cy="7143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/>
          <p:cNvSpPr/>
          <p:nvPr/>
        </p:nvSpPr>
        <p:spPr>
          <a:xfrm>
            <a:off x="2718197" y="1857375"/>
            <a:ext cx="1733550" cy="7143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Simple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325" y="1750495"/>
            <a:ext cx="997914" cy="926030"/>
          </a:xfrm>
          <a:prstGeom prst="rect">
            <a:avLst/>
          </a:prstGeom>
          <a:effectLst>
            <a:softEdge rad="31750"/>
          </a:effectLst>
        </p:spPr>
      </p:pic>
      <p:cxnSp>
        <p:nvCxnSpPr>
          <p:cNvPr id="23" name="Straight Arrow Connector 22"/>
          <p:cNvCxnSpPr/>
          <p:nvPr/>
        </p:nvCxnSpPr>
        <p:spPr>
          <a:xfrm flipH="1" flipV="1">
            <a:off x="3857328" y="3452134"/>
            <a:ext cx="817067" cy="234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/>
          <p:cNvSpPr/>
          <p:nvPr/>
        </p:nvSpPr>
        <p:spPr>
          <a:xfrm>
            <a:off x="2132410" y="3048680"/>
            <a:ext cx="1733550" cy="71437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Object </a:t>
            </a:r>
            <a:endParaRPr lang="en-IN" dirty="0">
              <a:latin typeface="Bell MT" panose="02020503060305020303" pitchFamily="18" charset="0"/>
            </a:endParaRPr>
          </a:p>
          <a:p>
            <a:pPr algn="ctr"/>
            <a:r>
              <a:rPr lang="en-IN" dirty="0">
                <a:latin typeface="Bell MT" panose="02020503060305020303" pitchFamily="18" charset="0"/>
              </a:rPr>
              <a:t>Oriented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384" y="2786870"/>
            <a:ext cx="1167048" cy="115833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cxnSp>
        <p:nvCxnSpPr>
          <p:cNvPr id="28" name="Straight Arrow Connector 27"/>
          <p:cNvCxnSpPr/>
          <p:nvPr/>
        </p:nvCxnSpPr>
        <p:spPr>
          <a:xfrm flipH="1">
            <a:off x="3857625" y="4214134"/>
            <a:ext cx="816174" cy="334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/>
          <p:cNvSpPr/>
          <p:nvPr/>
        </p:nvSpPr>
        <p:spPr>
          <a:xfrm>
            <a:off x="2123778" y="4191501"/>
            <a:ext cx="1733550" cy="7143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Distributed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040" name="Picture 16" descr="Introduction to Big Data and Distributed Systems | CloudxLab Blo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845" y="4027599"/>
            <a:ext cx="1551025" cy="1042180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Straight Arrow Connector 34"/>
          <p:cNvCxnSpPr/>
          <p:nvPr/>
        </p:nvCxnSpPr>
        <p:spPr>
          <a:xfrm flipH="1">
            <a:off x="3990975" y="4842284"/>
            <a:ext cx="691159" cy="6631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/>
          <p:cNvSpPr/>
          <p:nvPr/>
        </p:nvSpPr>
        <p:spPr>
          <a:xfrm>
            <a:off x="2257425" y="5240549"/>
            <a:ext cx="1733550" cy="71437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Secure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044" name="Picture 20" descr="Secure Checkout is Safe and Secur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54" y="5060253"/>
            <a:ext cx="1226229" cy="1238251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: Rounded Corners 41"/>
          <p:cNvSpPr/>
          <p:nvPr/>
        </p:nvSpPr>
        <p:spPr>
          <a:xfrm>
            <a:off x="4336554" y="5815012"/>
            <a:ext cx="1733550" cy="7143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High</a:t>
            </a:r>
            <a:endParaRPr lang="en-IN" dirty="0">
              <a:latin typeface="Bell MT" panose="02020503060305020303" pitchFamily="18" charset="0"/>
            </a:endParaRPr>
          </a:p>
          <a:p>
            <a:pPr algn="ctr"/>
            <a:r>
              <a:rPr lang="en-IN" dirty="0">
                <a:latin typeface="Bell MT" panose="02020503060305020303" pitchFamily="18" charset="0"/>
              </a:rPr>
              <a:t>Performance</a:t>
            </a:r>
            <a:endParaRPr lang="en-IN" dirty="0">
              <a:latin typeface="Bell MT" panose="02020503060305020303" pitchFamily="18" charset="0"/>
            </a:endParaRPr>
          </a:p>
        </p:txBody>
      </p:sp>
      <p:cxnSp>
        <p:nvCxnSpPr>
          <p:cNvPr id="43" name="Straight Arrow Connector 42"/>
          <p:cNvCxnSpPr>
            <a:endCxn id="42" idx="0"/>
          </p:cNvCxnSpPr>
          <p:nvPr/>
        </p:nvCxnSpPr>
        <p:spPr>
          <a:xfrm flipH="1">
            <a:off x="5203329" y="4836164"/>
            <a:ext cx="193106" cy="9788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773" y="5459928"/>
            <a:ext cx="1210614" cy="1255690"/>
          </a:xfrm>
          <a:prstGeom prst="rect">
            <a:avLst/>
          </a:prstGeom>
          <a:effectLst>
            <a:softEdge rad="127000"/>
          </a:effectLst>
        </p:spPr>
      </p:pic>
      <p:cxnSp>
        <p:nvCxnSpPr>
          <p:cNvPr id="47" name="Straight Arrow Connector 46"/>
          <p:cNvCxnSpPr/>
          <p:nvPr/>
        </p:nvCxnSpPr>
        <p:spPr>
          <a:xfrm flipH="1" flipV="1">
            <a:off x="5449940" y="2290030"/>
            <a:ext cx="408385" cy="5072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/>
          <p:cNvSpPr/>
          <p:nvPr/>
        </p:nvSpPr>
        <p:spPr>
          <a:xfrm>
            <a:off x="4680646" y="1566631"/>
            <a:ext cx="1733550" cy="71437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Robust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992" y="1308771"/>
            <a:ext cx="1239483" cy="1230093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54" name="Rectangle: Rounded Corners 53"/>
          <p:cNvSpPr/>
          <p:nvPr/>
        </p:nvSpPr>
        <p:spPr>
          <a:xfrm>
            <a:off x="7416105" y="5815012"/>
            <a:ext cx="1733550" cy="714375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Multi-threaded</a:t>
            </a:r>
            <a:endParaRPr lang="en-IN" dirty="0">
              <a:latin typeface="Bell MT" panose="02020503060305020303" pitchFamily="18" charset="0"/>
            </a:endParaRPr>
          </a:p>
        </p:txBody>
      </p:sp>
      <p:cxnSp>
        <p:nvCxnSpPr>
          <p:cNvPr id="56" name="Straight Arrow Connector 55"/>
          <p:cNvCxnSpPr/>
          <p:nvPr/>
        </p:nvCxnSpPr>
        <p:spPr>
          <a:xfrm>
            <a:off x="6558186" y="4837432"/>
            <a:ext cx="1724694" cy="9871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6518" y="5518596"/>
            <a:ext cx="1313645" cy="1307206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0" name="Rectangle: Rounded Corners 59"/>
          <p:cNvSpPr/>
          <p:nvPr/>
        </p:nvSpPr>
        <p:spPr>
          <a:xfrm>
            <a:off x="7838770" y="1729243"/>
            <a:ext cx="1733550" cy="7143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Architecture-Neutral</a:t>
            </a:r>
            <a:endParaRPr lang="en-IN" dirty="0">
              <a:latin typeface="Bell MT" panose="02020503060305020303" pitchFamily="18" charset="0"/>
            </a:endParaRPr>
          </a:p>
        </p:txBody>
      </p:sp>
      <p:cxnSp>
        <p:nvCxnSpPr>
          <p:cNvPr id="61" name="Straight Arrow Connector 60"/>
          <p:cNvCxnSpPr/>
          <p:nvPr/>
        </p:nvCxnSpPr>
        <p:spPr>
          <a:xfrm flipV="1">
            <a:off x="7226518" y="2377755"/>
            <a:ext cx="668387" cy="455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48" name="Picture 24" descr="Features of Java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1734" y="1516710"/>
            <a:ext cx="1986166" cy="1153625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6" name="Straight Arrow Connector 65"/>
          <p:cNvCxnSpPr/>
          <p:nvPr/>
        </p:nvCxnSpPr>
        <p:spPr>
          <a:xfrm flipV="1">
            <a:off x="7536830" y="3189505"/>
            <a:ext cx="746050" cy="1382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/>
          <p:cNvSpPr/>
          <p:nvPr/>
        </p:nvSpPr>
        <p:spPr>
          <a:xfrm>
            <a:off x="8260870" y="3016950"/>
            <a:ext cx="1733550" cy="84468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Platform Independent / Portable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050" name="Picture 26" descr="Java is platform independent, How ...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881" y="2833689"/>
            <a:ext cx="2362596" cy="1290102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0" name="Straight Arrow Connector 69"/>
          <p:cNvCxnSpPr>
            <a:endCxn id="72" idx="1"/>
          </p:cNvCxnSpPr>
          <p:nvPr/>
        </p:nvCxnSpPr>
        <p:spPr>
          <a:xfrm>
            <a:off x="7517383" y="4231989"/>
            <a:ext cx="817289" cy="6158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Rectangle: Rounded Corners 71"/>
          <p:cNvSpPr/>
          <p:nvPr/>
        </p:nvSpPr>
        <p:spPr>
          <a:xfrm>
            <a:off x="8334672" y="4490655"/>
            <a:ext cx="1733550" cy="71437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Bell MT" panose="02020503060305020303" pitchFamily="18" charset="0"/>
              </a:rPr>
              <a:t>Dynamic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2195" y="4149703"/>
            <a:ext cx="668400" cy="1407602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1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25" grpId="0" animBg="1"/>
      <p:bldP spid="30" grpId="0" animBg="1"/>
      <p:bldP spid="37" grpId="0" animBg="1"/>
      <p:bldP spid="42" grpId="0" animBg="1"/>
      <p:bldP spid="49" grpId="0" animBg="1"/>
      <p:bldP spid="54" grpId="0" animBg="1"/>
      <p:bldP spid="60" grpId="0" animBg="1"/>
      <p:bldP spid="68" grpId="0" animBg="1"/>
      <p:bldP spid="7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JAVA is Architecture-Neutral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One of Java's features is that it is architecturally neutral. What does  that mean? - Quor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1" y="1600199"/>
            <a:ext cx="7192964" cy="4924425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/>
          <p:nvPr/>
        </p:nvSpPr>
        <p:spPr>
          <a:xfrm>
            <a:off x="8662220" y="1735931"/>
            <a:ext cx="3309888" cy="416956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Write</a:t>
            </a:r>
            <a:r>
              <a:rPr lang="en-US" sz="2400" b="0" i="0" u="none" strike="noStrike" dirty="0">
                <a:latin typeface="Times New Roman" panose="02020603050405020304" pitchFamily="18" charset="0"/>
              </a:rPr>
              <a:t> (W)</a:t>
            </a:r>
            <a:endParaRPr lang="en-US" sz="2400" b="0" i="0" u="none" strike="noStrike" dirty="0">
              <a:latin typeface="Times New Roman" panose="02020603050405020304" pitchFamily="18" charset="0"/>
            </a:endParaRPr>
          </a:p>
          <a:p>
            <a:endParaRPr lang="en-US" sz="2400" b="0" i="0" u="none" strike="noStrike" dirty="0">
              <a:latin typeface="Times New Roman" panose="02020603050405020304" pitchFamily="18" charset="0"/>
            </a:endParaRPr>
          </a:p>
          <a:p>
            <a:r>
              <a:rPr lang="en-US" sz="2400" baseline="0" dirty="0">
                <a:latin typeface="Times New Roman" panose="02020603050405020304" pitchFamily="18" charset="0"/>
              </a:rPr>
              <a:t>Once</a:t>
            </a:r>
            <a:r>
              <a:rPr lang="en-US" sz="2400" dirty="0">
                <a:latin typeface="Times New Roman" panose="02020603050405020304" pitchFamily="18" charset="0"/>
              </a:rPr>
              <a:t> (O)</a:t>
            </a:r>
            <a:endParaRPr lang="en-US" sz="2400" dirty="0">
              <a:latin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</a:endParaRPr>
          </a:p>
          <a:p>
            <a:r>
              <a:rPr lang="en-US" sz="2400" b="0" i="0" u="none" strike="noStrike" baseline="0" dirty="0">
                <a:latin typeface="Times New Roman" panose="02020603050405020304" pitchFamily="18" charset="0"/>
              </a:rPr>
              <a:t>Run</a:t>
            </a:r>
            <a:r>
              <a:rPr lang="en-US" sz="2400" b="0" i="0" u="none" strike="noStrike" dirty="0">
                <a:latin typeface="Times New Roman" panose="02020603050405020304" pitchFamily="18" charset="0"/>
              </a:rPr>
              <a:t> (R)</a:t>
            </a:r>
            <a:endParaRPr lang="en-US" sz="2400" b="0" i="0" u="none" strike="noStrike" dirty="0">
              <a:latin typeface="Times New Roman" panose="02020603050405020304" pitchFamily="18" charset="0"/>
            </a:endParaRPr>
          </a:p>
          <a:p>
            <a:endParaRPr lang="en-US" sz="2400" b="0" i="0" u="none" strike="noStrike" dirty="0">
              <a:latin typeface="Times New Roman" panose="02020603050405020304" pitchFamily="18" charset="0"/>
            </a:endParaRPr>
          </a:p>
          <a:p>
            <a:r>
              <a:rPr lang="en-US" sz="2400" baseline="0" dirty="0">
                <a:latin typeface="Times New Roman" panose="02020603050405020304" pitchFamily="18" charset="0"/>
              </a:rPr>
              <a:t>Anywhere (A)</a:t>
            </a:r>
            <a:endParaRPr lang="en-US" sz="2400" b="0" i="0" u="none" strike="noStrike" baseline="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JAVA is Architecture-Neutral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667" y="1824037"/>
            <a:ext cx="4933258" cy="434816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1" y="1824037"/>
            <a:ext cx="4783139" cy="4348162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Object Oriented Paradigm of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484311" y="1181101"/>
            <a:ext cx="10018713" cy="191452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</a:rPr>
              <a:t>Java</a:t>
            </a:r>
            <a:r>
              <a:rPr lang="en-IN" sz="2200" dirty="0">
                <a:latin typeface="Times New Roman" panose="02020603050405020304" pitchFamily="18" charset="0"/>
              </a:rPr>
              <a:t> is based on the concept of </a:t>
            </a: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Object-Oriented Programming (OOP)</a:t>
            </a:r>
            <a:r>
              <a:rPr lang="en-IN" sz="2200" dirty="0">
                <a:latin typeface="Times New Roman" panose="02020603050405020304" pitchFamily="18" charset="0"/>
              </a:rPr>
              <a:t>. </a:t>
            </a: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</a:rPr>
              <a:t>As the name suggests, at the centre of it is (are) an object(s). </a:t>
            </a: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IN" sz="220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200" dirty="0">
                <a:latin typeface="Times New Roman" panose="02020603050405020304" pitchFamily="18" charset="0"/>
              </a:rPr>
              <a:t>Objects contain both data and the functionality that operates on that data. </a:t>
            </a:r>
            <a:endParaRPr lang="en-IN" sz="2200" b="0" i="0" u="none" strike="noStrike" baseline="0" dirty="0">
              <a:latin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643" y="3179649"/>
            <a:ext cx="5562434" cy="3383076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9" name="Title 1"/>
          <p:cNvSpPr txBox="1"/>
          <p:nvPr/>
        </p:nvSpPr>
        <p:spPr>
          <a:xfrm>
            <a:off x="8181974" y="3105150"/>
            <a:ext cx="3228975" cy="314325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q"/>
            </a:pPr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sz="1800" b="0" i="0" u="none" strike="noStrike" baseline="0" dirty="0"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Encapsulation</a:t>
            </a: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Inheritance</a:t>
            </a: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Information hiding</a:t>
            </a: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IN" sz="22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IN" sz="2200" dirty="0">
                <a:solidFill>
                  <a:srgbClr val="0070C0"/>
                </a:solidFill>
                <a:latin typeface="Times New Roman" panose="02020603050405020304" pitchFamily="18" charset="0"/>
              </a:rPr>
              <a:t>Polymorphism </a:t>
            </a:r>
            <a:endParaRPr lang="en-IN" sz="2200" b="0" i="0" u="none" strike="noStrike" baseline="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Encapsulation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0" y="1770624"/>
            <a:ext cx="5859465" cy="2867398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0" name="TextBox 9"/>
          <p:cNvSpPr txBox="1"/>
          <p:nvPr/>
        </p:nvSpPr>
        <p:spPr>
          <a:xfrm>
            <a:off x="3028950" y="4972586"/>
            <a:ext cx="8305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wrapping code and data together into a single unit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capsule which is a mix of several medicines.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Encapsulation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6" y="1761089"/>
            <a:ext cx="4361983" cy="4402622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680" y="1761089"/>
            <a:ext cx="3913585" cy="4393087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2" name="Arrow: Right 11"/>
          <p:cNvSpPr/>
          <p:nvPr/>
        </p:nvSpPr>
        <p:spPr>
          <a:xfrm>
            <a:off x="6076485" y="3367093"/>
            <a:ext cx="131268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/>
          <p:cNvSpPr/>
          <p:nvPr/>
        </p:nvSpPr>
        <p:spPr>
          <a:xfrm rot="10800000">
            <a:off x="6105525" y="3971935"/>
            <a:ext cx="1312680" cy="400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657886"/>
            <a:ext cx="88217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IN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mechanism in which one object acquires all the properties (data) and behaviours (methods) of a parent object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Child object may have its own data and methods as well.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5686" y="3170263"/>
            <a:ext cx="8200014" cy="3535337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Information hiding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2377350"/>
            <a:ext cx="461169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have </a:t>
            </a: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specifiers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which allow the one class of objects to hide relevant information from its child objects and objects of other classes.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80135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524" y="1514475"/>
            <a:ext cx="4895626" cy="5181600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Polymorphism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2112459"/>
            <a:ext cx="461169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(OOP)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IN" dirty="0"/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a programming language’s ability to process objects depending on their class.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35" y="1594733"/>
            <a:ext cx="4886325" cy="258624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20" y="4385057"/>
            <a:ext cx="8798905" cy="2253867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JAVA Program Back-end Setup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09" y="1683834"/>
            <a:ext cx="4983165" cy="4161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Developer’s Kit (JDK) – 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Java</a:t>
            </a: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’s programming environment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Core </a:t>
            </a:r>
            <a:r>
              <a:rPr lang="en-US" altLang="zh-TW" sz="2000" dirty="0">
                <a:solidFill>
                  <a:srgbClr val="7030A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Java API</a:t>
            </a:r>
            <a:endParaRPr lang="en-US" altLang="zh-TW" sz="2000" dirty="0">
              <a:solidFill>
                <a:srgbClr val="7030A0"/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compiler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interpreter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debugger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dis-assembler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profiler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more...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57649"/>
            <a:ext cx="5194089" cy="3792164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Execution of JAVA Program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652" y="1688798"/>
            <a:ext cx="7708823" cy="4703016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Bytecode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0" y="1683834"/>
            <a:ext cx="6040440" cy="5126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4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most languages, compilation produces machine code</a:t>
            </a:r>
            <a:endParaRPr lang="en-US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compilation produces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“bytecode”</a:t>
            </a: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defTabSz="9144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readable by the VM</a:t>
            </a:r>
            <a:endParaRPr lang="en-US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defTabSz="9144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Transferable across the Internet as </a:t>
            </a:r>
            <a:r>
              <a:rPr lang="en-US" alt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applets</a:t>
            </a:r>
            <a:endParaRPr lang="en-US" altLang="en-US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>
              <a:lnSpc>
                <a:spcPct val="150000"/>
              </a:lnSpc>
              <a:spcBef>
                <a:spcPts val="100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 interprets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bytecodes</a:t>
            </a: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instructions</a:t>
            </a:r>
            <a:endParaRPr lang="en-US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defTabSz="914400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Partly responsible for performance lag</a:t>
            </a:r>
            <a:endParaRPr lang="en-US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defTabSz="9144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produced on any platform may be executed on any other platform which supports a VM</a:t>
            </a:r>
            <a:endParaRPr lang="en-US" alt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5726" y="1702884"/>
            <a:ext cx="3825874" cy="128673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1" y="3356336"/>
            <a:ext cx="3825873" cy="3229978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JIT Compiler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0" y="1683834"/>
            <a:ext cx="543084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Just-In-Time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compiler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code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runtime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1-time overhead when run initiated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increase 10-30 times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default for most </a:t>
            </a:r>
            <a:r>
              <a:rPr lang="en-US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turned off if desired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apply statistical optimizations based on runtime usage profile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Understanding JIT compiler (just-in-time compiler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619241"/>
            <a:ext cx="4352925" cy="3619518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Java Virtual Machine (JVM)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1" y="1502859"/>
            <a:ext cx="6011864" cy="4792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TW" sz="2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Not just one JVM, but a whole family</a:t>
            </a:r>
            <a:endParaRPr lang="en-US" altLang="zh-TW" sz="2600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JVM</a:t>
            </a: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(J2EE &amp; J2SE)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Well-known Java Virtual Machine.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rgbClr val="00B05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CVM, KVM</a:t>
            </a: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(J2ME)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Small devices.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Reduces some VM features to fit resource-constrained devices.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>
                <a:solidFill>
                  <a:srgbClr val="0070C0"/>
                </a:solidFill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JCVM</a:t>
            </a: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 (Java Card)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Smart cards.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 marL="800100" lvl="2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PMingLiU" panose="02020500000000000000" pitchFamily="18" charset="-120"/>
                <a:cs typeface="Times New Roman" panose="02020603050405020304" pitchFamily="18" charset="0"/>
              </a:rPr>
              <a:t>It has least VM features,  etc. </a:t>
            </a:r>
            <a:endParaRPr lang="en-US" altLang="zh-TW" sz="2000" dirty="0">
              <a:latin typeface="Times New Roman" panose="02020603050405020304" pitchFamily="18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pic>
        <p:nvPicPr>
          <p:cNvPr id="2052" name="Picture 4" descr="What is JVM (Java Virtual Machine): Architecture Explained!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1830155"/>
            <a:ext cx="4006849" cy="3618146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770624"/>
            <a:ext cx="51927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History of JAVA Programming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JAVA Programming Language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JAVA is Architecture-Neutral / Portable / Platform-independent?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 Concepts in JAVA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Encapsulation			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hiding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Polymorphism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19899" y="2077374"/>
            <a:ext cx="486648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 Setup and Execution model for JAVA program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			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 Compiler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0" lvl="3" indent="-34290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4088</Words>
  <Application>WPS Presentation</Application>
  <PresentationFormat>Widescreen</PresentationFormat>
  <Paragraphs>193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4" baseType="lpstr">
      <vt:lpstr>Arial</vt:lpstr>
      <vt:lpstr>SimSun</vt:lpstr>
      <vt:lpstr>Wingdings</vt:lpstr>
      <vt:lpstr>Arial</vt:lpstr>
      <vt:lpstr>Arial Black</vt:lpstr>
      <vt:lpstr>Times New Roman</vt:lpstr>
      <vt:lpstr>Bell MT</vt:lpstr>
      <vt:lpstr>Corbel</vt:lpstr>
      <vt:lpstr>Microsoft YaHei</vt:lpstr>
      <vt:lpstr>Arial Unicode MS</vt:lpstr>
      <vt:lpstr>Calibri</vt:lpstr>
      <vt:lpstr>PMingLiU</vt:lpstr>
      <vt:lpstr>PMingLiU-ExtB</vt:lpstr>
      <vt:lpstr>Parallax</vt:lpstr>
      <vt:lpstr>JAVA Programming</vt:lpstr>
      <vt:lpstr>Let’s START THE JOURNEY Together…!!!</vt:lpstr>
      <vt:lpstr>Brief History of JAVA</vt:lpstr>
      <vt:lpstr>Why the name JAVA???</vt:lpstr>
      <vt:lpstr>Characteristics of JAVA</vt:lpstr>
      <vt:lpstr>JAVA is Architecture-Neutral</vt:lpstr>
      <vt:lpstr>JAVA is Architecture-Neutral (Contd..)</vt:lpstr>
      <vt:lpstr>Object Oriented Paradigm of JAVA</vt:lpstr>
      <vt:lpstr>Encapsulation</vt:lpstr>
      <vt:lpstr>Encapsulation (Example)</vt:lpstr>
      <vt:lpstr>Inheritance</vt:lpstr>
      <vt:lpstr>Information hiding</vt:lpstr>
      <vt:lpstr>Polymorphism</vt:lpstr>
      <vt:lpstr>JAVA Program Back-end Setup</vt:lpstr>
      <vt:lpstr>Execution of JAVA Program</vt:lpstr>
      <vt:lpstr>Bytecode</vt:lpstr>
      <vt:lpstr>JIT Compiler</vt:lpstr>
      <vt:lpstr>Java Virtual Machine (JVM)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syed sajid</cp:lastModifiedBy>
  <cp:revision>74</cp:revision>
  <dcterms:created xsi:type="dcterms:W3CDTF">2024-06-05T06:37:00Z</dcterms:created>
  <dcterms:modified xsi:type="dcterms:W3CDTF">2025-08-06T08:09:28Z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891DC9B3D3F847C5B7E7259B2189E4C4_12</vt:lpwstr>
  </property>
  <property fmtid="{D5CDD505-2E9C-101B-9397-08002B2CF9AE}" pid="3" name="KSOProductBuildVer">
    <vt:lpwstr>1033-12.2.0.21931</vt:lpwstr>
  </property>
</Properties>
</file>