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0" r:id="rId6"/>
    <p:sldId id="261" r:id="rId7"/>
    <p:sldId id="279" r:id="rId8"/>
    <p:sldId id="262" r:id="rId9"/>
    <p:sldId id="301" r:id="rId10"/>
    <p:sldId id="302" r:id="rId11"/>
    <p:sldId id="283" r:id="rId12"/>
    <p:sldId id="265" r:id="rId13"/>
    <p:sldId id="284" r:id="rId14"/>
    <p:sldId id="266" r:id="rId15"/>
    <p:sldId id="296" r:id="rId16"/>
    <p:sldId id="310" r:id="rId17"/>
    <p:sldId id="311" r:id="rId18"/>
    <p:sldId id="312" r:id="rId19"/>
    <p:sldId id="313" r:id="rId20"/>
    <p:sldId id="314" r:id="rId21"/>
    <p:sldId id="315" r:id="rId22"/>
    <p:sldId id="304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vojit Dhara" initials="S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53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95" autoAdjust="0"/>
  </p:normalViewPr>
  <p:slideViewPr>
    <p:cSldViewPr snapToGrid="0">
      <p:cViewPr varScale="1">
        <p:scale>
          <a:sx n="57" d="100"/>
          <a:sy n="57" d="100"/>
        </p:scale>
        <p:origin x="9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4A9E-73A7-414E-89A4-9929C052808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3138"/>
            <a:ext cx="9144000" cy="165576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JAVA Programming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20198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Course Instructor</a:t>
            </a:r>
            <a:r>
              <a:rPr lang="en-IN" sz="2800" dirty="0"/>
              <a:t>: </a:t>
            </a:r>
            <a:r>
              <a:rPr lang="en-IN" sz="2800" b="1" dirty="0" err="1">
                <a:solidFill>
                  <a:srgbClr val="7030A0"/>
                </a:solidFill>
              </a:rPr>
              <a:t>Dr.</a:t>
            </a:r>
            <a:r>
              <a:rPr lang="en-IN" sz="2800" b="1" dirty="0">
                <a:solidFill>
                  <a:srgbClr val="7030A0"/>
                </a:solidFill>
              </a:rPr>
              <a:t> </a:t>
            </a:r>
            <a:r>
              <a:rPr lang="en-US" altLang="en-IN" sz="2800" b="1" dirty="0">
                <a:solidFill>
                  <a:srgbClr val="7030A0"/>
                </a:solidFill>
              </a:rPr>
              <a:t>Syed Sajid Hussain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b="1" dirty="0">
                <a:solidFill>
                  <a:srgbClr val="00B050"/>
                </a:solidFill>
              </a:rPr>
              <a:t>School of Computer Science</a:t>
            </a:r>
            <a:endParaRPr lang="en-IN" sz="2800" b="1" dirty="0">
              <a:solidFill>
                <a:srgbClr val="00B050"/>
              </a:solidFill>
            </a:endParaRPr>
          </a:p>
          <a:p>
            <a:r>
              <a:rPr lang="en-IN" sz="2800" b="1" dirty="0">
                <a:solidFill>
                  <a:srgbClr val="00B050"/>
                </a:solidFill>
              </a:rPr>
              <a:t>UPES Dehradun</a:t>
            </a:r>
            <a:endParaRPr lang="en-IN" sz="24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90575"/>
          </a:xfrm>
          <a:ln>
            <a:solidFill>
              <a:srgbClr val="C00000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TOPICs to be discussed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604892" y="1918842"/>
            <a:ext cx="5238036" cy="425335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Nested Interfaces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Variables in Interfaces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Marker Interfaces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1714500" lvl="5" indent="-34290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B050"/>
                </a:solidFill>
                <a:latin typeface="Arial Black" panose="020B0A04020102020204" pitchFamily="34" charset="0"/>
              </a:rPr>
              <a:t>Serializable</a:t>
            </a:r>
            <a:endParaRPr lang="en-IN" sz="2200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 marL="1257300" lvl="4" indent="-342900">
              <a:buFont typeface="Wingdings" panose="05000000000000000000" pitchFamily="2" charset="2"/>
              <a:buChar char="q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1714500" lvl="5" indent="-34290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B050"/>
                </a:solidFill>
                <a:latin typeface="Arial Black" panose="020B0A04020102020204" pitchFamily="34" charset="0"/>
              </a:rPr>
              <a:t>Cloneable</a:t>
            </a:r>
            <a:endParaRPr lang="en-IN" sz="2200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 marL="1257300" lvl="4" indent="-342900">
              <a:buFont typeface="Wingdings" panose="05000000000000000000" pitchFamily="2" charset="2"/>
              <a:buChar char="q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1714500" lvl="5" indent="-34290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B050"/>
                </a:solidFill>
                <a:latin typeface="Arial Black" panose="020B0A04020102020204" pitchFamily="34" charset="0"/>
              </a:rPr>
              <a:t>Remote</a:t>
            </a:r>
            <a:endParaRPr lang="en-IN" sz="22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6264988" y="2141582"/>
            <a:ext cx="5238036" cy="211892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Some other most used Interfaces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1714500" lvl="5" indent="-34290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B050"/>
                </a:solidFill>
                <a:latin typeface="Arial Black" panose="020B0A04020102020204" pitchFamily="34" charset="0"/>
              </a:rPr>
              <a:t>Iterator</a:t>
            </a:r>
            <a:endParaRPr lang="en-IN" sz="2200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 marL="1257300" lvl="4" indent="-342900">
              <a:buFont typeface="Wingdings" panose="05000000000000000000" pitchFamily="2" charset="2"/>
              <a:buChar char="q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1714500" lvl="5" indent="-34290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B050"/>
                </a:solidFill>
                <a:latin typeface="Arial Black" panose="020B0A04020102020204" pitchFamily="34" charset="0"/>
              </a:rPr>
              <a:t>Comparable</a:t>
            </a:r>
            <a:endParaRPr lang="en-IN" sz="22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636" y="1562098"/>
            <a:ext cx="9042401" cy="2828926"/>
          </a:xfrm>
        </p:spPr>
        <p:txBody>
          <a:bodyPr>
            <a:normAutofit/>
          </a:bodyPr>
          <a:lstStyle/>
          <a:p>
            <a:pPr algn="l"/>
            <a:r>
              <a:rPr lang="en-IN" sz="5400" dirty="0">
                <a:solidFill>
                  <a:srgbClr val="0070C0"/>
                </a:solidFill>
                <a:latin typeface="Arial Black" panose="020B0A04020102020204" pitchFamily="34" charset="0"/>
              </a:rPr>
              <a:t>Let’s </a:t>
            </a:r>
            <a:r>
              <a:rPr lang="en-I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START …!!!</a:t>
            </a:r>
            <a:endParaRPr lang="en-IN" sz="5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525" y="2328862"/>
            <a:ext cx="412432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Nested Interfaces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0" y="1647136"/>
            <a:ext cx="1001871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declared as a member of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another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Such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a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class class_name {							interface first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		interface interface_name {					interface second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		. . . . . 									. . . . . .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		}											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} 											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0" y="3908269"/>
            <a:ext cx="10018713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declared as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differs from a top-level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must either be declared as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use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level.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outside of its enclosing scope, it must be qualified by the name of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which it is a member. Thus, outside of the class or interface in which a nested interface is declared, its name must be fully qualified.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Nested Interfaces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84311" y="1601913"/>
            <a:ext cx="4947138" cy="3754874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interface B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void interface_B();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 implements A.B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interface_B()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System.out.println("Interface nested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			   inside class");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Nested_Interface1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 obj = new C();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obj.interface_B();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71943" y="5558525"/>
            <a:ext cx="37595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 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nested inside class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40790" y="1601913"/>
            <a:ext cx="5236362" cy="3754874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interface B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void interface_B();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 implements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interface_B()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System.out.println("Interface nested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			  inside interface");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Nested_Interface2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 obj = new C();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obj.interface_B();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43518" y="5551938"/>
            <a:ext cx="37595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 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nested inside interface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/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Nested Interfaces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7435" y="1632058"/>
            <a:ext cx="8974349" cy="3754874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interface_A();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interface B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void interface_B();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 implements A, A.B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interface_A() {  System.out.println("Interface method");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interface_B() {  System.out.println("Nested Interface method");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Nested_Interface3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 obj = new C();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obj.interface_A();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obj.interface_B();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86292" y="5580408"/>
            <a:ext cx="37595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 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method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Interface method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2096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Variables in Interfaces</a:t>
            </a:r>
            <a:endParaRPr lang="en-US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4312" y="1690191"/>
            <a:ext cx="100187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import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constants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multiple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simply declaring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contains variables that are initialized to the desired values.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include that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(that is, when you implement the interface), all of those variable names will be in scope as constants.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838" y="3534712"/>
            <a:ext cx="6094324" cy="203132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java.util.Random;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SharedConstants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int NO = 0;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int YES = 1;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int MAYBE = 2;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int LATER = 3;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int SOON = 4;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int NEVER = 5;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32763" y="5779342"/>
            <a:ext cx="93702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program makes use of one of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 standard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provides pseudorandom numbers.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  <p:bldP spid="12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Variables in Interfaces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59289" y="5456619"/>
            <a:ext cx="4888683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Soon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Later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4311" y="1671890"/>
            <a:ext cx="4765764" cy="3754874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Question implements SharedConstants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Random rand = new Random();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ask()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int prob = (int)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(100*rand.nextDouble());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if (prob &lt; 30)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return NO;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else if (prob &lt; 60)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return YES;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else if (prob &lt; 75)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return LATER;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else if (prob &lt; 98)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return SOON;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else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return NEVER;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20915" y="1671890"/>
            <a:ext cx="5727057" cy="3754874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AskMe implements SharedConstants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static void answer(int result)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switch(result)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case NO: System.out.println("No");break;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case YES: System.out.println("Yes");break;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case MAYBE: System.out.println("Maybe");break;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case LATER: System.out.println("Later");break;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case SOON: System.out.println("Soon");break;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case NEVER: System.out.println("Never");break;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Question q = new Question();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answer(q.ask());   answer(q.ask());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answer(q.ask());   answer(q.ask());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Marker Interfaces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1" y="1615533"/>
            <a:ext cx="10018712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(also known as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has no methods or constants inside it.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indicate to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other developers that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this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belong to a specific category.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interfaces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to provide metadata to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they have certain properties or should be treated in a particular way.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well-known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interfaces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1700" lvl="4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Serializable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1700" lvl="4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Cloneable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1700" lvl="4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Serializable Interface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484311" y="1651386"/>
            <a:ext cx="10018712" cy="158418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Serializable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 the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java.io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does not contain any constants or methods. Hence,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it do not have to implement any methods.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Serializable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they want their instances to be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serialized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de-serialized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1725" y="3429000"/>
            <a:ext cx="4511298" cy="2990797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9" name="TextBox 8"/>
          <p:cNvSpPr txBox="1"/>
          <p:nvPr/>
        </p:nvSpPr>
        <p:spPr>
          <a:xfrm>
            <a:off x="1695327" y="3486780"/>
            <a:ext cx="50672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 mechanism of converting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of an object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a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 stream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done using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ObjectOutputStream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De-Serialization: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reverse process where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 stream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recreate the actual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Deserialization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done using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ObjectInputStream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Serializable Interface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25472" y="1571938"/>
            <a:ext cx="6936207" cy="5286062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IN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java.io.*;</a:t>
            </a:r>
            <a:endParaRPr lang="en-IN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Student implements Serializable {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int SAP_ID;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name;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Student(int id, String s) { SAP_ID = id;   name = s; }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MyClass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throws IOException, ClassNotFoundException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Student s1 = new Student(101, </a:t>
            </a:r>
            <a:r>
              <a:rPr lang="en-IN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Amit</a:t>
            </a:r>
            <a:r>
              <a:rPr lang="en-IN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//Serialization</a:t>
            </a:r>
            <a:endParaRPr lang="en-US" sz="13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FileOutputStream fos = new FileOutputStream("xyz.txt");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ObjectOutputStream oos = new ObjectOutputStream(fos);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oos.writeObject(s1);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//De-serialization</a:t>
            </a:r>
            <a:endParaRPr lang="en-US" sz="13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FileInputStream fis = new FileInputStream("xyz.txt");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ObjectInputStream ois = new ObjectInputStream(fis);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Student s2 = (Student)ois.readObject();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System.out.println(s2.SAP_ID+</a:t>
            </a:r>
            <a:r>
              <a:rPr lang="en-IN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+s2.name);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oos.close();   ois.close();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    </a:t>
            </a:r>
            <a:endParaRPr lang="en-IN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08255" y="5727141"/>
            <a:ext cx="13942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  Amit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Cloneable Interface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4310" y="1616336"/>
            <a:ext cx="1001871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Cloneable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method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clone()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implements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Cloneable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that it is legal for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clone()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to make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field-for-field copy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instances of that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Invoking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clone()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on an instance of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does not implement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Cloneable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an exception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CloneNotSupportedException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being thrown. By convention,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implement this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override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Object.clone()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protected Object clone() throws CloneNotSupportedException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the implementing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have its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using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Cloneable Interface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32698" y="1588878"/>
            <a:ext cx="7239997" cy="5078313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java.lang.Cloneable;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Student implements Cloneable {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int SAP_ID;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name;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Student(int id, String s) { SAP_ID = id;  name = s;  }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Object clone() throws CloneNotSupportedException {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System.out.println("Cloning in progress...");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super.clone();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MyClass {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throws CloneNotSupportedException  {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Student s1 = new Student(101, "Amit");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3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//cloning 's1' and holding new cloned object reference in s2 </a:t>
            </a:r>
            <a:endParaRPr lang="en-US" sz="13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//down-casting as clone() return type is Object </a:t>
            </a:r>
            <a:endParaRPr lang="en-US" sz="13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Student s2 = (Student)s1.clone();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System.out.println(s2.SAP_ID);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System.out.println(s2.name);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95592" y="5343752"/>
            <a:ext cx="25274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Cloning in progress...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Remote Interface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09" y="1626371"/>
            <a:ext cx="100187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defined 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java.rmi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Method Invocation (RMI)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68510" y="2921168"/>
            <a:ext cx="97345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Method Invocation: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 mechanism that allows an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residing in one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access/invoke an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running on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system JVM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Remote Method Invocation in Java - GeeksforGeek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510" y="3807704"/>
            <a:ext cx="5384867" cy="2692434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307664" y="3830482"/>
            <a:ext cx="419535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Stub Object: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stub object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machine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an information block and sends this information to the server.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Skeleton Object: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skeleton object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the request from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stub object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1323348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Some other commonly used Interfaces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4310" y="2691437"/>
            <a:ext cx="1001871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other most used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lvl="3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not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interfaces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contain a body (members and methods).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Iterator Interface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09" y="1626371"/>
            <a:ext cx="1001871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Iterator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part of the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iterate over a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objects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methods to traverse a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remove elements from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4888" y="3838030"/>
            <a:ext cx="1032250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Iterator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abstract boolean hasNext();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//Checks if the collection has more elements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Object next();              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//Returns the next object in the collection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remove();              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//optional throws exception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Iterator Interface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2940" y="1541793"/>
            <a:ext cx="7280189" cy="5078313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java.util.Iterator;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MyCollection implements Iterable&lt;Integer&gt; {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Integer[] items;    private int size;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MyCollection(Integer[] items) {    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this.items = items;   this.size = items.length;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Iterator&lt;Integer&gt; iterator() { return new MyIterator(); }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Inner class that implements the Iterator interface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class MyIterator implements Iterator&lt;Integer&gt; {    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private int index = 0;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public boolean hasNext() {  return index &lt; size;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public Integer next() {  return items[index++];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MyClass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Integer[] numbers = {12, 20, 43, 34, 5};    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MyCollection collection = new MyCollection(numbers);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(Integer number : collection) {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System.out.println(number);    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46396" y="4681114"/>
            <a:ext cx="15566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Comparable Interface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0" y="1656516"/>
            <a:ext cx="1001871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Comparable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present in the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used to define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ordering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a single method,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compareTo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used to compare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object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object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same type. It returns: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-34290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integer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object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greater than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specified 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-34290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integer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object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less than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specified 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-34290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object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equal to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specified 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17941" y="5505497"/>
            <a:ext cx="536866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Comparable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int compareTo(Object obj);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Comparable Interface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82940" y="1541793"/>
            <a:ext cx="7611785" cy="4870564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java.util.*;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Student implements Comparable&lt;Student&gt;{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int SAP_ID;   String name;   int age;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Student(int r, String s, int a){  SAP_ID = r;  name = s;  age = a; }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int compareTo(Student st){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if(age == st.age)  return 0;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else if(age &gt; st.age) return 1;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else  return -1;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MyClass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ArrayList&lt;Student&gt; arr = new ArrayList&lt;Student&gt;();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arr.add(new Student(1089,"Vijay",23));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arr.add(new Student(1063,"Ajay",27));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arr.add(new Student(1072,"Jai",21));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Collections.sort(arr);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for(Student st : arr) {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System.out.println(st.SAP_ID+" "+st.name+" "+st.age);   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97317" y="5088918"/>
            <a:ext cx="19090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fi-FI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i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1072  Jai  21</a:t>
            </a:r>
            <a:endParaRPr lang="fi-FI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i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1089  Vijay  23</a:t>
            </a:r>
            <a:endParaRPr lang="fi-FI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i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1063  Ajay  27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Summary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7238999" y="1770624"/>
            <a:ext cx="3228975" cy="2191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1" y="1931398"/>
            <a:ext cx="100187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we learned about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Interfaces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in Interfaces 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(Shared Constants between classes)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Interfaces 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(Serializable, Cloneable, Remote)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other Interfaces 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(Iterator, Comparable)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 descr="Thank You Images – Browse 301,010 Stock Photos, Vectors, and Video | Adobe  Sto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714500"/>
            <a:ext cx="8058150" cy="34290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11065</Words>
  <Application>WPS Presentation</Application>
  <PresentationFormat>Widescreen</PresentationFormat>
  <Paragraphs>393</Paragraphs>
  <Slides>21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Arial</vt:lpstr>
      <vt:lpstr>Arial Black</vt:lpstr>
      <vt:lpstr>Times New Roman</vt:lpstr>
      <vt:lpstr>Courier New</vt:lpstr>
      <vt:lpstr>Corbel</vt:lpstr>
      <vt:lpstr>Microsoft YaHei</vt:lpstr>
      <vt:lpstr>Arial Unicode MS</vt:lpstr>
      <vt:lpstr>Calibri</vt:lpstr>
      <vt:lpstr>Parallax</vt:lpstr>
      <vt:lpstr>JAVA Programming</vt:lpstr>
      <vt:lpstr>TOPICs to be discussed</vt:lpstr>
      <vt:lpstr>Let’s START …!!!</vt:lpstr>
      <vt:lpstr>Nested Interfaces</vt:lpstr>
      <vt:lpstr>Nested Interfaces (Example)</vt:lpstr>
      <vt:lpstr>Nested Interfaces (Example)</vt:lpstr>
      <vt:lpstr>Variables in Interfaces</vt:lpstr>
      <vt:lpstr>Variables in Interfaces (Example)</vt:lpstr>
      <vt:lpstr>Marker Interfaces</vt:lpstr>
      <vt:lpstr>Serializable Interface</vt:lpstr>
      <vt:lpstr>Serializable Interface (Example)</vt:lpstr>
      <vt:lpstr>Cloneable Interface</vt:lpstr>
      <vt:lpstr>Cloneable Interface (Example)</vt:lpstr>
      <vt:lpstr>Remote Interface</vt:lpstr>
      <vt:lpstr>Some other commonly used Interfaces</vt:lpstr>
      <vt:lpstr>Iterator Interface</vt:lpstr>
      <vt:lpstr>Iterator Interface (Example)</vt:lpstr>
      <vt:lpstr>Comparable Interface</vt:lpstr>
      <vt:lpstr>Comparable Interface (Example)</vt:lpstr>
      <vt:lpstr>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</dc:title>
  <dc:creator>Suvojit Dhara</dc:creator>
  <cp:lastModifiedBy>syed sajid</cp:lastModifiedBy>
  <cp:revision>391</cp:revision>
  <dcterms:created xsi:type="dcterms:W3CDTF">2024-06-05T06:37:00Z</dcterms:created>
  <dcterms:modified xsi:type="dcterms:W3CDTF">2025-09-17T06:38:29Z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10952BA010C140BEB96FE1B6A4B944F9_12</vt:lpwstr>
  </property>
  <property fmtid="{D5CDD505-2E9C-101B-9397-08002B2CF9AE}" pid="3" name="KSOProductBuildVer">
    <vt:lpwstr>1033-12.2.0.21931</vt:lpwstr>
  </property>
</Properties>
</file>