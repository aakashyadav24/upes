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56" r:id="rId3"/>
    <p:sldId id="257" r:id="rId4"/>
    <p:sldId id="260" r:id="rId6"/>
    <p:sldId id="261" r:id="rId7"/>
    <p:sldId id="279" r:id="rId8"/>
    <p:sldId id="262" r:id="rId9"/>
    <p:sldId id="301" r:id="rId10"/>
    <p:sldId id="302" r:id="rId11"/>
    <p:sldId id="290" r:id="rId12"/>
    <p:sldId id="305" r:id="rId13"/>
    <p:sldId id="308" r:id="rId14"/>
    <p:sldId id="309" r:id="rId15"/>
    <p:sldId id="283" r:id="rId16"/>
    <p:sldId id="265" r:id="rId17"/>
    <p:sldId id="284" r:id="rId18"/>
    <p:sldId id="295" r:id="rId19"/>
    <p:sldId id="266" r:id="rId20"/>
    <p:sldId id="296" r:id="rId21"/>
    <p:sldId id="310" r:id="rId22"/>
    <p:sldId id="311" r:id="rId23"/>
    <p:sldId id="312" r:id="rId24"/>
    <p:sldId id="313" r:id="rId25"/>
    <p:sldId id="314" r:id="rId26"/>
    <p:sldId id="304" r:id="rId27"/>
    <p:sldId id="273" r:id="rId2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uvojit Dhara" initials="SD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00"/>
    <a:srgbClr val="00539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9695" autoAdjust="0"/>
  </p:normalViewPr>
  <p:slideViewPr>
    <p:cSldViewPr snapToGrid="0">
      <p:cViewPr varScale="1">
        <p:scale>
          <a:sx n="57" d="100"/>
          <a:sy n="57" d="100"/>
        </p:scale>
        <p:origin x="992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2" Type="http://schemas.openxmlformats.org/officeDocument/2006/relationships/commentAuthors" Target="commentAuthors.xml"/><Relationship Id="rId31" Type="http://schemas.openxmlformats.org/officeDocument/2006/relationships/tableStyles" Target="tableStyles.xml"/><Relationship Id="rId30" Type="http://schemas.openxmlformats.org/officeDocument/2006/relationships/viewProps" Target="viewProps.xml"/><Relationship Id="rId3" Type="http://schemas.openxmlformats.org/officeDocument/2006/relationships/slide" Target="slides/slide1.xml"/><Relationship Id="rId29" Type="http://schemas.openxmlformats.org/officeDocument/2006/relationships/presProps" Target="presProps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BA4A9E-73A7-414E-89A4-9929C052808D}" type="datetimeFigureOut">
              <a:rPr lang="en-IN" smtClean="0"/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C0073A-2FF4-46D2-A80A-0D66A90A4967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C0073A-2FF4-46D2-A80A-0D66A90A4967}" type="slidenum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C0073A-2FF4-46D2-A80A-0D66A90A4967}" type="slidenum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C0073A-2FF4-46D2-A80A-0D66A90A4967}" type="slidenum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C0073A-2FF4-46D2-A80A-0D66A90A4967}" type="slidenum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C0073A-2FF4-46D2-A80A-0D66A90A4967}" type="slidenum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C0073A-2FF4-46D2-A80A-0D66A90A4967}" type="slidenum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C0073A-2FF4-46D2-A80A-0D66A90A4967}" type="slidenum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C0073A-2FF4-46D2-A80A-0D66A90A4967}" type="slidenum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C0073A-2FF4-46D2-A80A-0D66A90A4967}" type="slidenum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C0073A-2FF4-46D2-A80A-0D66A90A4967}" type="slidenum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C0073A-2FF4-46D2-A80A-0D66A90A4967}" type="slidenum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C0073A-2FF4-46D2-A80A-0D66A90A4967}" type="slidenum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C0073A-2FF4-46D2-A80A-0D66A90A4967}" type="slidenum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C0073A-2FF4-46D2-A80A-0D66A90A4967}" type="slidenum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C0073A-2FF4-46D2-A80A-0D66A90A4967}" type="slidenum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C0073A-2FF4-46D2-A80A-0D66A90A4967}" type="slidenum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C0073A-2FF4-46D2-A80A-0D66A90A4967}" type="slidenum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C0073A-2FF4-46D2-A80A-0D66A90A4967}" type="slidenum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C0073A-2FF4-46D2-A80A-0D66A90A4967}" type="slidenum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C0073A-2FF4-46D2-A80A-0D66A90A4967}" type="slidenum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C0073A-2FF4-46D2-A80A-0D66A90A4967}" type="slidenum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35F73-B13F-438D-9164-CEAD34B92365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646B6-F2FA-46CE-8D0B-7CD3BD081188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35F73-B13F-438D-9164-CEAD34B92365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F4C646B6-F2FA-46CE-8D0B-7CD3BD081188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35F73-B13F-438D-9164-CEAD34B92365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646B6-F2FA-46CE-8D0B-7CD3BD081188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35F73-B13F-438D-9164-CEAD34B92365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646B6-F2FA-46CE-8D0B-7CD3BD081188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35F73-B13F-438D-9164-CEAD34B92365}" type="datetimeFigureOut">
              <a:rPr lang="en-IN" smtClean="0"/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646B6-F2FA-46CE-8D0B-7CD3BD081188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35F73-B13F-438D-9164-CEAD34B92365}" type="datetimeFigureOut">
              <a:rPr lang="en-IN" smtClean="0"/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646B6-F2FA-46CE-8D0B-7CD3BD081188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35F73-B13F-438D-9164-CEAD34B92365}" type="datetimeFigureOut">
              <a:rPr lang="en-IN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646B6-F2FA-46CE-8D0B-7CD3BD081188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35F73-B13F-438D-9164-CEAD34B92365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646B6-F2FA-46CE-8D0B-7CD3BD081188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35F73-B13F-438D-9164-CEAD34B92365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646B6-F2FA-46CE-8D0B-7CD3BD081188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35F73-B13F-438D-9164-CEAD34B92365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646B6-F2FA-46CE-8D0B-7CD3BD081188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35F73-B13F-438D-9164-CEAD34B92365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646B6-F2FA-46CE-8D0B-7CD3BD081188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  <a:endParaRPr lang="en-US" sz="8000" dirty="0">
              <a:solidFill>
                <a:schemeClr val="tx1"/>
              </a:solidFill>
              <a:effectLst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  <a:endParaRPr lang="en-US" sz="8000" dirty="0">
              <a:solidFill>
                <a:schemeClr val="tx1"/>
              </a:solidFill>
              <a:effectLst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35F73-B13F-438D-9164-CEAD34B92365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646B6-F2FA-46CE-8D0B-7CD3BD081188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35F73-B13F-438D-9164-CEAD34B92365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646B6-F2FA-46CE-8D0B-7CD3BD081188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  <a:endParaRPr lang="en-US" sz="8000" dirty="0">
              <a:solidFill>
                <a:schemeClr val="tx1"/>
              </a:solidFill>
              <a:effectLst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  <a:endParaRPr lang="en-US" sz="8000" dirty="0">
              <a:solidFill>
                <a:schemeClr val="tx1"/>
              </a:solidFill>
              <a:effectLst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35F73-B13F-438D-9164-CEAD34B92365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646B6-F2FA-46CE-8D0B-7CD3BD081188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35F73-B13F-438D-9164-CEAD34B92365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646B6-F2FA-46CE-8D0B-7CD3BD081188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35F73-B13F-438D-9164-CEAD34B92365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646B6-F2FA-46CE-8D0B-7CD3BD081188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35F73-B13F-438D-9164-CEAD34B92365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646B6-F2FA-46CE-8D0B-7CD3BD081188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06435F73-B13F-438D-9164-CEAD34B92365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F4C646B6-F2FA-46CE-8D0B-7CD3BD081188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 panose="020B0604020202020204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 panose="020B0604020202020204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 panose="020B0604020202020204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 panose="020B0604020202020204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 panose="020B0604020202020204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 panose="020B0604020202020204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 panose="020B0604020202020204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 panose="020B0604020202020204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 panose="020B0604020202020204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5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7.png"/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image" Target="../media/image4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973138"/>
            <a:ext cx="9144000" cy="1655762"/>
          </a:xfrm>
        </p:spPr>
        <p:txBody>
          <a:bodyPr>
            <a:normAutofit/>
          </a:bodyPr>
          <a:lstStyle/>
          <a:p>
            <a:r>
              <a:rPr lang="en-IN" dirty="0">
                <a:solidFill>
                  <a:srgbClr val="FF0000"/>
                </a:solidFill>
                <a:latin typeface="Arial Black" panose="020B0A04020102020204" pitchFamily="34" charset="0"/>
              </a:rPr>
              <a:t>JAVA Programming</a:t>
            </a:r>
            <a:endParaRPr lang="en-IN" dirty="0">
              <a:solidFill>
                <a:srgbClr val="FF0000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57400" y="3201988"/>
            <a:ext cx="9144000" cy="1655762"/>
          </a:xfrm>
        </p:spPr>
        <p:txBody>
          <a:bodyPr>
            <a:normAutofit lnSpcReduction="10000"/>
          </a:bodyPr>
          <a:lstStyle/>
          <a:p>
            <a:r>
              <a:rPr lang="en-IN" sz="2800" b="1" dirty="0">
                <a:solidFill>
                  <a:srgbClr val="FF0000"/>
                </a:solidFill>
              </a:rPr>
              <a:t>Course Instructor</a:t>
            </a:r>
            <a:r>
              <a:rPr lang="en-IN" sz="2800" dirty="0"/>
              <a:t>: </a:t>
            </a:r>
            <a:r>
              <a:rPr lang="en-IN" sz="2800" b="1" dirty="0" err="1">
                <a:solidFill>
                  <a:srgbClr val="7030A0"/>
                </a:solidFill>
              </a:rPr>
              <a:t>Dr.</a:t>
            </a:r>
            <a:r>
              <a:rPr lang="en-IN" sz="2800" b="1" dirty="0">
                <a:solidFill>
                  <a:srgbClr val="7030A0"/>
                </a:solidFill>
              </a:rPr>
              <a:t> </a:t>
            </a:r>
            <a:r>
              <a:rPr lang="en-IN" sz="2800" b="1">
                <a:solidFill>
                  <a:srgbClr val="7030A0"/>
                </a:solidFill>
              </a:rPr>
              <a:t>S</a:t>
            </a:r>
            <a:r>
              <a:rPr lang="en-US" altLang="en-IN" sz="2800" b="1">
                <a:solidFill>
                  <a:srgbClr val="7030A0"/>
                </a:solidFill>
              </a:rPr>
              <a:t>yed Sajid Hussain</a:t>
            </a:r>
            <a:endParaRPr lang="en-IN" sz="2800" b="1" dirty="0">
              <a:solidFill>
                <a:srgbClr val="7030A0"/>
              </a:solidFill>
            </a:endParaRPr>
          </a:p>
          <a:p>
            <a:r>
              <a:rPr lang="en-IN" sz="2800" b="1" dirty="0">
                <a:solidFill>
                  <a:srgbClr val="00B050"/>
                </a:solidFill>
              </a:rPr>
              <a:t>School of Computer Science</a:t>
            </a:r>
            <a:endParaRPr lang="en-IN" sz="2800" b="1" dirty="0">
              <a:solidFill>
                <a:srgbClr val="00B050"/>
              </a:solidFill>
            </a:endParaRPr>
          </a:p>
          <a:p>
            <a:r>
              <a:rPr lang="en-IN" sz="2800" b="1" dirty="0">
                <a:solidFill>
                  <a:srgbClr val="00B050"/>
                </a:solidFill>
              </a:rPr>
              <a:t>UPES Dehradun</a:t>
            </a:r>
            <a:endParaRPr lang="en-IN" sz="2400" b="1" dirty="0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790575"/>
          </a:xfrm>
          <a:ln>
            <a:solidFill>
              <a:srgbClr val="C00000"/>
            </a:solidFill>
          </a:ln>
        </p:spPr>
        <p:txBody>
          <a:bodyPr/>
          <a:lstStyle/>
          <a:p>
            <a:pPr algn="l"/>
            <a:r>
              <a:rPr lang="en-US" dirty="0">
                <a:solidFill>
                  <a:srgbClr val="FF0000"/>
                </a:solidFill>
                <a:latin typeface="Arial Black" panose="020B0A04020102020204" pitchFamily="34" charset="0"/>
              </a:rPr>
              <a:t>TOPICs to be discussed</a:t>
            </a:r>
            <a:endParaRPr lang="en-IN" dirty="0">
              <a:solidFill>
                <a:srgbClr val="FF0000"/>
              </a:solidFill>
              <a:latin typeface="Arial Black" panose="020B0A04020102020204" pitchFamily="34" charset="0"/>
            </a:endParaRPr>
          </a:p>
        </p:txBody>
      </p:sp>
      <p:sp>
        <p:nvSpPr>
          <p:cNvPr id="4" name="Title 1"/>
          <p:cNvSpPr txBox="1"/>
          <p:nvPr/>
        </p:nvSpPr>
        <p:spPr>
          <a:xfrm>
            <a:off x="1583185" y="1954207"/>
            <a:ext cx="5762160" cy="3974321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342900" lvl="2" indent="-342900">
              <a:buFont typeface="Wingdings" panose="05000000000000000000" pitchFamily="2" charset="2"/>
              <a:buChar char="Ø"/>
            </a:pPr>
            <a:r>
              <a:rPr lang="en-IN" sz="2200" dirty="0">
                <a:solidFill>
                  <a:srgbClr val="0070C0"/>
                </a:solidFill>
                <a:latin typeface="Arial Black" panose="020B0A04020102020204" pitchFamily="34" charset="0"/>
              </a:rPr>
              <a:t>abstract methods and classes</a:t>
            </a:r>
            <a:endParaRPr lang="en-IN" sz="2200" dirty="0">
              <a:solidFill>
                <a:srgbClr val="0070C0"/>
              </a:solidFill>
              <a:latin typeface="Arial Black" panose="020B0A04020102020204" pitchFamily="34" charset="0"/>
            </a:endParaRPr>
          </a:p>
          <a:p>
            <a:pPr marL="0" lvl="2"/>
            <a:endParaRPr lang="en-IN" sz="2200" dirty="0">
              <a:solidFill>
                <a:srgbClr val="0070C0"/>
              </a:solidFill>
              <a:latin typeface="Arial Black" panose="020B0A04020102020204" pitchFamily="34" charset="0"/>
            </a:endParaRPr>
          </a:p>
          <a:p>
            <a:pPr marL="0" lvl="2" indent="-342900">
              <a:buFont typeface="Wingdings" panose="05000000000000000000" pitchFamily="2" charset="2"/>
              <a:buChar char="Ø"/>
            </a:pPr>
            <a:r>
              <a:rPr lang="en-IN" sz="2200" dirty="0">
                <a:solidFill>
                  <a:srgbClr val="0070C0"/>
                </a:solidFill>
                <a:latin typeface="Arial Black" panose="020B0A04020102020204" pitchFamily="34" charset="0"/>
              </a:rPr>
              <a:t>‘final’ keyword </a:t>
            </a:r>
            <a:endParaRPr lang="en-IN" sz="2200" dirty="0">
              <a:solidFill>
                <a:srgbClr val="0070C0"/>
              </a:solidFill>
              <a:latin typeface="Arial Black" panose="020B0A04020102020204" pitchFamily="34" charset="0"/>
            </a:endParaRPr>
          </a:p>
          <a:p>
            <a:pPr marL="0" lvl="2" indent="-342900">
              <a:buFont typeface="Wingdings" panose="05000000000000000000" pitchFamily="2" charset="2"/>
              <a:buChar char="Ø"/>
            </a:pPr>
            <a:endParaRPr lang="en-IN" sz="2200" dirty="0">
              <a:solidFill>
                <a:srgbClr val="0070C0"/>
              </a:solidFill>
              <a:latin typeface="Arial Black" panose="020B0A04020102020204" pitchFamily="34" charset="0"/>
            </a:endParaRPr>
          </a:p>
          <a:p>
            <a:pPr marL="0" lvl="2" indent="-342900">
              <a:buFont typeface="Wingdings" panose="05000000000000000000" pitchFamily="2" charset="2"/>
              <a:buChar char="Ø"/>
            </a:pPr>
            <a:r>
              <a:rPr lang="en-IN" sz="2200" dirty="0">
                <a:solidFill>
                  <a:srgbClr val="0070C0"/>
                </a:solidFill>
                <a:latin typeface="Arial Black" panose="020B0A04020102020204" pitchFamily="34" charset="0"/>
              </a:rPr>
              <a:t>final methods and classes</a:t>
            </a:r>
            <a:endParaRPr lang="en-IN" sz="2200" dirty="0">
              <a:solidFill>
                <a:srgbClr val="0070C0"/>
              </a:solidFill>
              <a:latin typeface="Arial Black" panose="020B0A04020102020204" pitchFamily="34" charset="0"/>
            </a:endParaRPr>
          </a:p>
          <a:p>
            <a:pPr marL="0" lvl="2" indent="-342900">
              <a:buFont typeface="Wingdings" panose="05000000000000000000" pitchFamily="2" charset="2"/>
              <a:buChar char="Ø"/>
            </a:pPr>
            <a:endParaRPr lang="en-IN" sz="2200" dirty="0">
              <a:solidFill>
                <a:srgbClr val="0070C0"/>
              </a:solidFill>
              <a:latin typeface="Arial Black" panose="020B0A04020102020204" pitchFamily="34" charset="0"/>
            </a:endParaRPr>
          </a:p>
          <a:p>
            <a:pPr marL="0" lvl="2" indent="-342900">
              <a:buFont typeface="Wingdings" panose="05000000000000000000" pitchFamily="2" charset="2"/>
              <a:buChar char="Ø"/>
            </a:pPr>
            <a:r>
              <a:rPr lang="en-IN" sz="2200" dirty="0">
                <a:solidFill>
                  <a:srgbClr val="0070C0"/>
                </a:solidFill>
                <a:latin typeface="Arial Black" panose="020B0A04020102020204" pitchFamily="34" charset="0"/>
              </a:rPr>
              <a:t>Object class</a:t>
            </a:r>
            <a:endParaRPr lang="en-IN" sz="2200" dirty="0">
              <a:solidFill>
                <a:srgbClr val="0070C0"/>
              </a:solidFill>
              <a:latin typeface="Arial Black" panose="020B0A04020102020204" pitchFamily="34" charset="0"/>
            </a:endParaRPr>
          </a:p>
          <a:p>
            <a:pPr marL="0" lvl="2" indent="-342900">
              <a:buFont typeface="Wingdings" panose="05000000000000000000" pitchFamily="2" charset="2"/>
              <a:buChar char="Ø"/>
            </a:pPr>
            <a:endParaRPr lang="en-IN" sz="2200" dirty="0">
              <a:solidFill>
                <a:srgbClr val="0070C0"/>
              </a:solidFill>
              <a:latin typeface="Arial Black" panose="020B0A04020102020204" pitchFamily="34" charset="0"/>
            </a:endParaRPr>
          </a:p>
          <a:p>
            <a:pPr marL="0" lvl="2" indent="-342900">
              <a:buFont typeface="Wingdings" panose="05000000000000000000" pitchFamily="2" charset="2"/>
              <a:buChar char="Ø"/>
            </a:pPr>
            <a:r>
              <a:rPr lang="en-IN" sz="2200" dirty="0">
                <a:solidFill>
                  <a:srgbClr val="0070C0"/>
                </a:solidFill>
                <a:latin typeface="Arial Black" panose="020B0A04020102020204" pitchFamily="34" charset="0"/>
              </a:rPr>
              <a:t>Cloning objects</a:t>
            </a:r>
            <a:endParaRPr lang="en-IN" sz="2200" dirty="0">
              <a:solidFill>
                <a:srgbClr val="0070C0"/>
              </a:solidFill>
              <a:latin typeface="Arial Black" panose="020B0A04020102020204" pitchFamily="34" charset="0"/>
            </a:endParaRPr>
          </a:p>
          <a:p>
            <a:pPr marL="0" lvl="2"/>
            <a:endParaRPr lang="en-IN" sz="2200" dirty="0">
              <a:solidFill>
                <a:srgbClr val="0070C0"/>
              </a:solidFill>
              <a:latin typeface="Arial Black" panose="020B0A04020102020204" pitchFamily="34" charset="0"/>
            </a:endParaRPr>
          </a:p>
        </p:txBody>
      </p:sp>
      <p:sp>
        <p:nvSpPr>
          <p:cNvPr id="5" name="Title 1"/>
          <p:cNvSpPr txBox="1"/>
          <p:nvPr/>
        </p:nvSpPr>
        <p:spPr>
          <a:xfrm>
            <a:off x="7093031" y="2104931"/>
            <a:ext cx="4681298" cy="1676795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342900" lvl="2" indent="-342900">
              <a:buFont typeface="Wingdings" panose="05000000000000000000" pitchFamily="2" charset="2"/>
              <a:buChar char="Ø"/>
            </a:pPr>
            <a:r>
              <a:rPr lang="en-IN" sz="2200" dirty="0">
                <a:solidFill>
                  <a:srgbClr val="0070C0"/>
                </a:solidFill>
                <a:latin typeface="Arial Black" panose="020B0A04020102020204" pitchFamily="34" charset="0"/>
              </a:rPr>
              <a:t>Types of Inheritance</a:t>
            </a:r>
            <a:endParaRPr lang="en-IN" sz="2200" dirty="0">
              <a:solidFill>
                <a:srgbClr val="0070C0"/>
              </a:solidFill>
              <a:latin typeface="Arial Black" panose="020B0A04020102020204" pitchFamily="34" charset="0"/>
            </a:endParaRPr>
          </a:p>
          <a:p>
            <a:pPr marL="0" lvl="2"/>
            <a:endParaRPr lang="en-IN" sz="2200" dirty="0">
              <a:solidFill>
                <a:srgbClr val="0070C0"/>
              </a:solidFill>
              <a:latin typeface="Arial Black" panose="020B0A04020102020204" pitchFamily="34" charset="0"/>
            </a:endParaRPr>
          </a:p>
          <a:p>
            <a:pPr marL="0" lvl="2" indent="-342900">
              <a:buFont typeface="Wingdings" panose="05000000000000000000" pitchFamily="2" charset="2"/>
              <a:buChar char="Ø"/>
            </a:pPr>
            <a:r>
              <a:rPr lang="en-IN" sz="2200" dirty="0">
                <a:solidFill>
                  <a:srgbClr val="0070C0"/>
                </a:solidFill>
                <a:latin typeface="Arial Black" panose="020B0A04020102020204" pitchFamily="34" charset="0"/>
              </a:rPr>
              <a:t>Diamond Problem</a:t>
            </a:r>
            <a:endParaRPr lang="en-IN" sz="2200" dirty="0">
              <a:solidFill>
                <a:srgbClr val="0070C0"/>
              </a:solidFill>
              <a:latin typeface="Arial Black" panose="020B0A04020102020204" pitchFamily="34" charset="0"/>
            </a:endParaRPr>
          </a:p>
          <a:p>
            <a:pPr marL="0" lvl="2"/>
            <a:endParaRPr lang="en-IN" sz="2200" dirty="0">
              <a:solidFill>
                <a:srgbClr val="0070C0"/>
              </a:solidFill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25636" y="1562098"/>
            <a:ext cx="9042401" cy="2828926"/>
          </a:xfrm>
        </p:spPr>
        <p:txBody>
          <a:bodyPr>
            <a:normAutofit/>
          </a:bodyPr>
          <a:lstStyle/>
          <a:p>
            <a:pPr algn="l"/>
            <a:r>
              <a:rPr lang="en-IN" sz="5400" dirty="0">
                <a:solidFill>
                  <a:srgbClr val="0070C0"/>
                </a:solidFill>
                <a:latin typeface="Arial Black" panose="020B0A04020102020204" pitchFamily="34" charset="0"/>
              </a:rPr>
              <a:t>Let’s </a:t>
            </a:r>
            <a:r>
              <a:rPr lang="en-IN" sz="5400" dirty="0">
                <a:solidFill>
                  <a:srgbClr val="FF0000"/>
                </a:solidFill>
                <a:latin typeface="Arial Black" panose="020B0A04020102020204" pitchFamily="34" charset="0"/>
              </a:rPr>
              <a:t>START …!!!</a:t>
            </a:r>
            <a:endParaRPr lang="en-IN" sz="5400" dirty="0">
              <a:solidFill>
                <a:srgbClr val="FF0000"/>
              </a:solidFill>
              <a:latin typeface="Arial Black" panose="020B0A04020102020204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1525" y="2328862"/>
            <a:ext cx="4124325" cy="412432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714375"/>
          </a:xfrm>
          <a:ln>
            <a:solidFill>
              <a:schemeClr val="accent4">
                <a:lumMod val="75000"/>
              </a:schemeClr>
            </a:solidFill>
          </a:ln>
        </p:spPr>
        <p:txBody>
          <a:bodyPr/>
          <a:lstStyle/>
          <a:p>
            <a:pPr algn="l"/>
            <a:r>
              <a:rPr lang="en-IN" dirty="0">
                <a:solidFill>
                  <a:schemeClr val="accent4">
                    <a:lumMod val="75000"/>
                  </a:schemeClr>
                </a:solidFill>
                <a:latin typeface="Arial Black" panose="020B0A04020102020204" pitchFamily="34" charset="0"/>
              </a:rPr>
              <a:t>abstract classes and methods</a:t>
            </a:r>
            <a:endParaRPr lang="en-IN" dirty="0">
              <a:solidFill>
                <a:schemeClr val="accent4">
                  <a:lumMod val="7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484311" y="1595332"/>
            <a:ext cx="5559583" cy="50167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are situations in which we want to define a </a:t>
            </a:r>
            <a:r>
              <a:rPr lang="en-US" sz="2000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superclass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declares the structure of a given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without providing a complete implementation of every </a:t>
            </a:r>
            <a:r>
              <a:rPr lang="en-US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Sometimes we want to create a </a:t>
            </a:r>
            <a:r>
              <a:rPr lang="en-US" sz="2000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superclass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only defines a generalized form that will be shared by all of its </a:t>
            </a:r>
            <a:r>
              <a:rPr lang="en-US" sz="2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subclasses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leaving it to each </a:t>
            </a:r>
            <a:r>
              <a:rPr lang="en-US" sz="2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subclass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fill in the details. 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Such a 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determines the nature of the </a:t>
            </a:r>
            <a:r>
              <a:rPr lang="en-US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the </a:t>
            </a:r>
            <a:r>
              <a:rPr lang="en-US" sz="2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subclasses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must implement. 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way this situation can occur is when a </a:t>
            </a:r>
            <a:r>
              <a:rPr lang="en-US" sz="2000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superclass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unable to create a meaningful implementation for a </a:t>
            </a:r>
            <a:r>
              <a:rPr lang="en-US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95103" y="1896160"/>
            <a:ext cx="4207921" cy="3772006"/>
          </a:xfrm>
          <a:prstGeom prst="rect">
            <a:avLst/>
          </a:prstGeom>
          <a:effectLst>
            <a:softEdge rad="63500"/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1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8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714375"/>
          </a:xfrm>
          <a:ln>
            <a:solidFill>
              <a:schemeClr val="accent4">
                <a:lumMod val="75000"/>
              </a:schemeClr>
            </a:solidFill>
          </a:ln>
        </p:spPr>
        <p:txBody>
          <a:bodyPr/>
          <a:lstStyle/>
          <a:p>
            <a:pPr algn="l"/>
            <a:r>
              <a:rPr lang="en-IN" dirty="0">
                <a:solidFill>
                  <a:schemeClr val="accent4">
                    <a:lumMod val="75000"/>
                  </a:schemeClr>
                </a:solidFill>
                <a:latin typeface="Arial Black" panose="020B0A04020102020204" pitchFamily="34" charset="0"/>
              </a:rPr>
              <a:t>abstract classes and methods</a:t>
            </a:r>
            <a:endParaRPr lang="en-IN" dirty="0">
              <a:solidFill>
                <a:schemeClr val="accent4">
                  <a:lumMod val="7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407270" y="1868152"/>
            <a:ext cx="10095754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1" indent="-342900"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Certain </a:t>
            </a:r>
            <a:r>
              <a:rPr lang="en-US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can be overridden by </a:t>
            </a:r>
            <a:r>
              <a:rPr lang="en-US" sz="2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subclasses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 specifying the </a:t>
            </a:r>
            <a:r>
              <a:rPr lang="en-US" sz="2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type modifier. These </a:t>
            </a:r>
            <a:r>
              <a:rPr lang="en-US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are sometimes referred to as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subclass’s responsibility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because they have no implementation specified in the </a:t>
            </a:r>
            <a:r>
              <a:rPr lang="en-US" sz="2000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superclass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must be overridden in the </a:t>
            </a:r>
            <a:r>
              <a:rPr lang="en-US" sz="2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subclass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1" indent="-342900"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declaration of these </a:t>
            </a:r>
            <a:r>
              <a:rPr lang="en-US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the </a:t>
            </a:r>
            <a:r>
              <a:rPr lang="en-US" sz="2000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superclass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as follows: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1" indent="-342900" algn="just">
              <a:buFont typeface="Wingdings" panose="05000000000000000000" pitchFamily="2" charset="2"/>
              <a:buChar char="Ø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</a:t>
            </a:r>
            <a:r>
              <a:rPr lang="en-US" sz="2000" dirty="0">
                <a:latin typeface="Courier New" panose="02070309020205020404" pitchFamily="49" charset="0"/>
                <a:cs typeface="Courier New" panose="02070309020205020404" pitchFamily="49" charset="0"/>
              </a:rPr>
              <a:t>abstract type method_name(parameter list);</a:t>
            </a: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lvl="1"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1" indent="-342900"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Any 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contains one or more </a:t>
            </a:r>
            <a:r>
              <a:rPr lang="en-US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abstract methods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must also be declared </a:t>
            </a:r>
            <a:r>
              <a:rPr lang="en-US" sz="2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1" indent="-342900" algn="just">
              <a:buFont typeface="Wingdings" panose="05000000000000000000" pitchFamily="2" charset="2"/>
              <a:buChar char="Ø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1" indent="-342900"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declare a 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you simply use the </a:t>
            </a:r>
            <a:r>
              <a:rPr lang="en-US" sz="2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keyword in front of the 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keyword at the beginning of the 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declaration.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714375"/>
          </a:xfrm>
          <a:ln>
            <a:solidFill>
              <a:schemeClr val="accent4"/>
            </a:solidFill>
          </a:ln>
        </p:spPr>
        <p:txBody>
          <a:bodyPr/>
          <a:lstStyle/>
          <a:p>
            <a:pPr algn="l"/>
            <a:r>
              <a:rPr lang="en-US" dirty="0">
                <a:solidFill>
                  <a:schemeClr val="accent4">
                    <a:lumMod val="75000"/>
                  </a:schemeClr>
                </a:solidFill>
                <a:latin typeface="Arial Black" panose="020B0A04020102020204" pitchFamily="34" charset="0"/>
              </a:rPr>
              <a:t>abstract class (Example)</a:t>
            </a:r>
            <a:endParaRPr lang="en-IN" dirty="0">
              <a:solidFill>
                <a:schemeClr val="accent4">
                  <a:lumMod val="7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484311" y="1577523"/>
            <a:ext cx="3770977" cy="4616648"/>
          </a:xfrm>
          <a:prstGeom prst="rect">
            <a:avLst/>
          </a:prstGeom>
          <a:solidFill>
            <a:schemeClr val="bg1"/>
          </a:solidFill>
          <a:effectLst>
            <a:softEdge rad="63500"/>
          </a:effectLst>
        </p:spPr>
        <p:txBody>
          <a:bodyPr wrap="square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abstract class Shape {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abstract double area();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class Rectangle extends Shape {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double l, b;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Rectangle(double x, double y) {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this.l = x; this.b = y;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double area() {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return l*b;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class Circle extends Shape {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double r;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Circle(double x) {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this.r = x;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double area() {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return 3.14*r*r;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573991" y="4104902"/>
            <a:ext cx="5348568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		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Aft>
                <a:spcPts val="600"/>
              </a:spcAf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Area of the Rectangle: 9.25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Aft>
                <a:spcPts val="600"/>
              </a:spcAf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Area of the Circle: 16.610599999999998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5573991" y="1577523"/>
            <a:ext cx="5929034" cy="2246769"/>
          </a:xfrm>
          <a:prstGeom prst="rect">
            <a:avLst/>
          </a:prstGeom>
          <a:solidFill>
            <a:schemeClr val="bg1"/>
          </a:solidFill>
          <a:effectLst>
            <a:softEdge rad="63500"/>
          </a:effectLst>
        </p:spPr>
        <p:txBody>
          <a:bodyPr wrap="square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class AbstractAreas { 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public static void main(String[] args) {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Rectangle rect = new Rectangle(2.5, 3.7);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System.out.println("Area of the Rectangle: "+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								  rect.area());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Circle cir = new Circle(2.3);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System.out.println("Area of the Circle: "+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								  cir.area());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9" grpId="0" animBg="1"/>
      <p:bldP spid="10" grpId="0"/>
      <p:bldP spid="12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714375"/>
          </a:xfrm>
          <a:ln>
            <a:solidFill>
              <a:schemeClr val="accent4"/>
            </a:solidFill>
          </a:ln>
        </p:spPr>
        <p:txBody>
          <a:bodyPr/>
          <a:lstStyle/>
          <a:p>
            <a:pPr algn="l"/>
            <a:r>
              <a:rPr lang="en-US" dirty="0">
                <a:solidFill>
                  <a:schemeClr val="accent4">
                    <a:lumMod val="75000"/>
                  </a:schemeClr>
                </a:solidFill>
                <a:latin typeface="Arial Black" panose="020B0A04020102020204" pitchFamily="34" charset="0"/>
              </a:rPr>
              <a:t>abstract classes (Contd..)</a:t>
            </a:r>
            <a:endParaRPr lang="en-IN" dirty="0">
              <a:solidFill>
                <a:schemeClr val="accent4">
                  <a:lumMod val="7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484311" y="1780614"/>
            <a:ext cx="5016973" cy="412420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</a:pPr>
            <a:r>
              <a:rPr lang="en-IN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Important Points:</a:t>
            </a: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</a:t>
            </a:r>
            <a:r>
              <a:rPr lang="en-US" sz="2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cannot be directly instantiated with the ‘new’ operator.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constructors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static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can not be declared.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Any </a:t>
            </a:r>
            <a:r>
              <a:rPr lang="en-US" sz="2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subclass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an </a:t>
            </a:r>
            <a:r>
              <a:rPr lang="en-US" sz="2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abstract class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must either implement all of the </a:t>
            </a:r>
            <a:r>
              <a:rPr lang="en-US" sz="2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abstract </a:t>
            </a:r>
            <a:r>
              <a:rPr lang="en-US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methods</a:t>
            </a:r>
            <a:r>
              <a:rPr lang="en-US" sz="2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the </a:t>
            </a:r>
            <a:r>
              <a:rPr lang="en-US" sz="2000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superclass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or be declared </a:t>
            </a:r>
            <a:r>
              <a:rPr lang="en-US" sz="2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itself.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</a:t>
            </a:r>
            <a:r>
              <a:rPr lang="en-US" sz="2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abstract class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may have one or more concrete/non-abstract </a:t>
            </a:r>
            <a:r>
              <a:rPr lang="en-US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This is perfectly fine.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543134" y="5685750"/>
            <a:ext cx="3399520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		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Aft>
                <a:spcPts val="600"/>
              </a:spcAf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B's implementation of callme.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Aft>
                <a:spcPts val="600"/>
              </a:spcAf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concrete method is fine.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755005" y="1519004"/>
            <a:ext cx="5222630" cy="4185761"/>
          </a:xfrm>
          <a:prstGeom prst="rect">
            <a:avLst/>
          </a:prstGeom>
          <a:solidFill>
            <a:schemeClr val="bg1"/>
          </a:solidFill>
          <a:effectLst>
            <a:softEdge rad="63500"/>
          </a:effectLst>
        </p:spPr>
        <p:txBody>
          <a:bodyPr wrap="square">
            <a:spAutoFit/>
          </a:bodyPr>
          <a:lstStyle/>
          <a:p>
            <a:r>
              <a:rPr lang="en-I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abstract class A {</a:t>
            </a:r>
            <a:endParaRPr lang="en-IN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I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abstract void callme();  </a:t>
            </a:r>
            <a:r>
              <a:rPr lang="en-IN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//abstract method</a:t>
            </a:r>
            <a:endParaRPr lang="en-IN" sz="1400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I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void callmetoo() {       </a:t>
            </a:r>
            <a:r>
              <a:rPr lang="en-IN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//concrete method</a:t>
            </a:r>
            <a:endParaRPr lang="en-IN" sz="1400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I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System.out.println("concrete method is</a:t>
            </a:r>
            <a:endParaRPr lang="en-IN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I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  fine.");  </a:t>
            </a:r>
            <a:endParaRPr lang="en-IN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I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}  </a:t>
            </a:r>
            <a:endParaRPr lang="en-IN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I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IN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I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class B extends A {</a:t>
            </a:r>
            <a:endParaRPr lang="en-IN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I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void callme() {</a:t>
            </a:r>
            <a:endParaRPr lang="en-IN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I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System.out.println("B's implementation of </a:t>
            </a:r>
            <a:endParaRPr lang="en-IN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I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      callme.");  </a:t>
            </a:r>
            <a:endParaRPr lang="en-IN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I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}  </a:t>
            </a:r>
            <a:endParaRPr lang="en-IN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I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IN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I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class MainClass {</a:t>
            </a:r>
            <a:endParaRPr lang="en-IN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I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public static void main(String args[]) {</a:t>
            </a:r>
            <a:endParaRPr lang="en-IN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I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B b = new B();</a:t>
            </a:r>
            <a:endParaRPr lang="en-IN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I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b.callme(); b.callmetoo();</a:t>
            </a:r>
            <a:endParaRPr lang="en-IN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I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}</a:t>
            </a:r>
            <a:endParaRPr lang="en-IN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I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IN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2" grpId="0"/>
      <p:bldP spid="13" grpId="0"/>
      <p:bldP spid="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714375"/>
          </a:xfrm>
          <a:ln>
            <a:solidFill>
              <a:schemeClr val="accent4"/>
            </a:solidFill>
          </a:ln>
        </p:spPr>
        <p:txBody>
          <a:bodyPr/>
          <a:lstStyle/>
          <a:p>
            <a:pPr algn="l"/>
            <a:r>
              <a:rPr lang="en-US" dirty="0">
                <a:solidFill>
                  <a:schemeClr val="accent4">
                    <a:lumMod val="75000"/>
                  </a:schemeClr>
                </a:solidFill>
                <a:latin typeface="Arial Black" panose="020B0A04020102020204" pitchFamily="34" charset="0"/>
              </a:rPr>
              <a:t>abstract classes (Contd..)</a:t>
            </a:r>
            <a:endParaRPr lang="en-IN" dirty="0">
              <a:solidFill>
                <a:schemeClr val="accent4">
                  <a:lumMod val="7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484311" y="1619793"/>
            <a:ext cx="10018713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Although </a:t>
            </a:r>
            <a:r>
              <a:rPr lang="en-US" sz="2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abstract classes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cannot be used to instantiate </a:t>
            </a:r>
            <a:r>
              <a:rPr lang="en-US" sz="2000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they can be used to create </a:t>
            </a:r>
            <a:r>
              <a:rPr lang="en-US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 references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That is, it is possible to create a </a:t>
            </a:r>
            <a:r>
              <a:rPr lang="en-US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an </a:t>
            </a:r>
            <a:r>
              <a:rPr lang="en-US" sz="2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abstract class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 that it can be used to point to a </a:t>
            </a:r>
            <a:r>
              <a:rPr lang="en-US" sz="2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subclass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614940" y="2848213"/>
            <a:ext cx="5222630" cy="3323987"/>
          </a:xfrm>
          <a:prstGeom prst="rect">
            <a:avLst/>
          </a:prstGeom>
          <a:solidFill>
            <a:schemeClr val="bg1"/>
          </a:solidFill>
          <a:effectLst>
            <a:softEdge rad="63500"/>
          </a:effectLst>
        </p:spPr>
        <p:txBody>
          <a:bodyPr wrap="square">
            <a:spAutoFit/>
          </a:bodyPr>
          <a:lstStyle/>
          <a:p>
            <a:r>
              <a:rPr lang="en-I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abstract class Shape {</a:t>
            </a:r>
            <a:endParaRPr lang="en-IN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I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abstract void draw(); </a:t>
            </a:r>
            <a:endParaRPr lang="en-IN" sz="1400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I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IN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I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class Rectangle extends Shape {</a:t>
            </a:r>
            <a:endParaRPr lang="en-IN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I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void draw() {</a:t>
            </a:r>
            <a:endParaRPr lang="en-IN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I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System.out.println("Rectangle drawing in </a:t>
            </a:r>
            <a:endParaRPr lang="en-IN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I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					process");  </a:t>
            </a:r>
            <a:endParaRPr lang="en-IN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I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}  </a:t>
            </a:r>
            <a:endParaRPr lang="en-IN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I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IN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I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class Circle extends Shape {</a:t>
            </a:r>
            <a:endParaRPr lang="en-IN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I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void draw() {</a:t>
            </a:r>
            <a:endParaRPr lang="en-IN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I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System.out.println("Circle drawing in </a:t>
            </a:r>
            <a:endParaRPr lang="en-IN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I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					process");  </a:t>
            </a:r>
            <a:endParaRPr lang="en-IN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I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}  </a:t>
            </a:r>
            <a:endParaRPr lang="en-IN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I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IN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976068" y="2837550"/>
            <a:ext cx="4840794" cy="2677656"/>
          </a:xfrm>
          <a:prstGeom prst="rect">
            <a:avLst/>
          </a:prstGeom>
          <a:solidFill>
            <a:schemeClr val="bg1"/>
          </a:solidFill>
          <a:effectLst>
            <a:softEdge rad="63500"/>
          </a:effectLst>
        </p:spPr>
        <p:txBody>
          <a:bodyPr wrap="square">
            <a:spAutoFit/>
          </a:bodyPr>
          <a:lstStyle/>
          <a:p>
            <a:r>
              <a:rPr lang="en-I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class MainClass {</a:t>
            </a:r>
            <a:endParaRPr lang="en-IN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I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public static void main(String args[]) {</a:t>
            </a:r>
            <a:endParaRPr lang="en-IN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I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Shape sh = new Shape(); </a:t>
            </a:r>
            <a:r>
              <a:rPr lang="en-IN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Error</a:t>
            </a:r>
            <a:endParaRPr lang="en-IN" sz="1400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I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Shape sh; </a:t>
            </a:r>
            <a:r>
              <a:rPr lang="en-IN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//This is OK</a:t>
            </a:r>
            <a:endParaRPr lang="en-IN" sz="1400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IN" sz="1400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IN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I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Rectangle rect = new Rectangle();</a:t>
            </a:r>
            <a:endParaRPr lang="en-IN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IN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I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Circle cir = new Circle();</a:t>
            </a:r>
            <a:endParaRPr lang="en-IN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IN" sz="1400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IN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I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sh = rect; sh.draw();</a:t>
            </a:r>
            <a:endParaRPr lang="en-IN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IN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I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sh = cir; sh.draw();</a:t>
            </a:r>
            <a:endParaRPr lang="en-IN" sz="1400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I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}</a:t>
            </a:r>
            <a:endParaRPr lang="en-IN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I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IN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454534" y="5664368"/>
            <a:ext cx="3883861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Rectangle drawing in process 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Circle drawing in process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8" grpId="0"/>
      <p:bldP spid="10" grpId="0" animBg="1"/>
      <p:bldP spid="11" grpId="0" animBg="1"/>
      <p:bldP spid="1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714375"/>
          </a:xfrm>
          <a:ln>
            <a:solidFill>
              <a:schemeClr val="accent4"/>
            </a:solidFill>
          </a:ln>
        </p:spPr>
        <p:txBody>
          <a:bodyPr/>
          <a:lstStyle/>
          <a:p>
            <a:pPr algn="l"/>
            <a:r>
              <a:rPr lang="en-IN" dirty="0">
                <a:solidFill>
                  <a:schemeClr val="accent4">
                    <a:lumMod val="75000"/>
                  </a:schemeClr>
                </a:solidFill>
                <a:latin typeface="Arial Black" panose="020B0A04020102020204" pitchFamily="34" charset="0"/>
              </a:rPr>
              <a:t>final variable </a:t>
            </a:r>
            <a:endParaRPr lang="en-IN" dirty="0">
              <a:solidFill>
                <a:schemeClr val="accent4">
                  <a:lumMod val="7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484310" y="2369223"/>
            <a:ext cx="4775812" cy="2677656"/>
          </a:xfrm>
          <a:prstGeom prst="rect">
            <a:avLst/>
          </a:prstGeom>
          <a:solidFill>
            <a:schemeClr val="bg1"/>
          </a:solidFill>
          <a:effectLst>
            <a:softEdge rad="63500"/>
          </a:effectLst>
        </p:spPr>
        <p:txBody>
          <a:bodyPr wrap="square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class fin_var {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final int a = 10;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void change() {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a = 20;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}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class MainClass {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public static void main(String[] args) {</a:t>
            </a:r>
            <a:endParaRPr lang="en-US" sz="1400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fin_var obj = new fin_var();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obj.change();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}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484310" y="1530756"/>
            <a:ext cx="1001871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final variables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 nothing but constants. We cannot change the value of a 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final variable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once it is initialized.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2286332" y="5226784"/>
            <a:ext cx="3809668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Error: cannot assign a value to final variable a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a = 20;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^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493666" y="2076835"/>
            <a:ext cx="5009357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final variable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is not initialized at the time of declaration is known as </a:t>
            </a: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blank final variable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We must initialize the 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blank final variable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</a:t>
            </a:r>
            <a:r>
              <a:rPr lang="en-US" sz="2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constructor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the 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otherwise it will throw a </a:t>
            </a:r>
            <a:r>
              <a:rPr lang="en-US" sz="2000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compilation error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6610438" y="3887956"/>
            <a:ext cx="4775812" cy="2462213"/>
          </a:xfrm>
          <a:prstGeom prst="rect">
            <a:avLst/>
          </a:prstGeom>
          <a:solidFill>
            <a:schemeClr val="bg1"/>
          </a:solidFill>
          <a:effectLst>
            <a:softEdge rad="63500"/>
          </a:effectLst>
        </p:spPr>
        <p:txBody>
          <a:bodyPr wrap="square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class blank {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final int a;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blank() { a = 10; }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void show() {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System.out.println(a);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}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public static void main(String[] args) {</a:t>
            </a:r>
            <a:endParaRPr lang="en-US" sz="1400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blank obj = new blank();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obj.show();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}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8998344" y="6378959"/>
            <a:ext cx="1713199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10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9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6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3" grpId="0" animBg="1"/>
      <p:bldP spid="10" grpId="0"/>
      <p:bldP spid="14" grpId="0"/>
      <p:bldP spid="15" grpId="0"/>
      <p:bldP spid="16" grpId="0" animBg="1"/>
      <p:bldP spid="17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680776"/>
          </a:xfrm>
          <a:ln>
            <a:solidFill>
              <a:schemeClr val="accent4"/>
            </a:solidFill>
          </a:ln>
        </p:spPr>
        <p:txBody>
          <a:bodyPr>
            <a:noAutofit/>
          </a:bodyPr>
          <a:lstStyle/>
          <a:p>
            <a:pPr algn="l"/>
            <a:r>
              <a:rPr lang="en-IN" dirty="0">
                <a:solidFill>
                  <a:schemeClr val="accent4">
                    <a:lumMod val="75000"/>
                  </a:schemeClr>
                </a:solidFill>
                <a:latin typeface="Arial Black" panose="020B0A04020102020204" pitchFamily="34" charset="0"/>
              </a:rPr>
              <a:t>Use of blank final variable</a:t>
            </a:r>
            <a:endParaRPr lang="en-IN" dirty="0">
              <a:solidFill>
                <a:schemeClr val="accent4">
                  <a:lumMod val="7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175505" y="5319283"/>
            <a:ext cx="3086498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Aft>
                <a:spcPts val="600"/>
              </a:spcAf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Roll no is: 1234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263311" y="3261689"/>
            <a:ext cx="5473920" cy="3323987"/>
          </a:xfrm>
          <a:prstGeom prst="rect">
            <a:avLst/>
          </a:prstGeom>
          <a:solidFill>
            <a:schemeClr val="bg1"/>
          </a:solidFill>
          <a:effectLst>
            <a:softEdge rad="63500"/>
          </a:effectLst>
        </p:spPr>
        <p:txBody>
          <a:bodyPr wrap="square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class StudentData{  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//Blank final variable</a:t>
            </a:r>
            <a:endParaRPr lang="en-US" sz="1400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final int ROLL_NO;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StudentData(int rnum){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//It must be initialized in constructor</a:t>
            </a:r>
            <a:endParaRPr lang="en-US" sz="1400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ROLL_NO = rnum;   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}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void info(){  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System.out.println("Roll no is: "+ROLL_NO);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}  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public static void main(String args[]){  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StudentData obj = new StudentData(1234);  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obj.info();     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}  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404060" y="1538717"/>
            <a:ext cx="10026192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Let’s say we have a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class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which is having a field called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Roll No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Since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Roll No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should not be changed once the student is registered, we can declare it as a final variable in a class but we cannot initialize roll no in advance for all the students (otherwise all students would be having same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roll no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 In such case we can declare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roll no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variable as blank final and we initialize this value during object creation like this: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9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9" grpId="0"/>
      <p:bldP spid="6" grpId="0" animBg="1"/>
      <p:bldP spid="1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680776"/>
          </a:xfrm>
          <a:ln>
            <a:solidFill>
              <a:schemeClr val="accent4"/>
            </a:solidFill>
          </a:ln>
        </p:spPr>
        <p:txBody>
          <a:bodyPr>
            <a:noAutofit/>
          </a:bodyPr>
          <a:lstStyle/>
          <a:p>
            <a:pPr algn="l"/>
            <a:r>
              <a:rPr lang="en-IN" dirty="0">
                <a:solidFill>
                  <a:schemeClr val="accent4">
                    <a:lumMod val="75000"/>
                  </a:schemeClr>
                </a:solidFill>
                <a:latin typeface="Arial Black" panose="020B0A04020102020204" pitchFamily="34" charset="0"/>
              </a:rPr>
              <a:t>static final variable</a:t>
            </a:r>
            <a:endParaRPr lang="en-IN" dirty="0">
              <a:solidFill>
                <a:schemeClr val="accent4">
                  <a:lumMod val="7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192667" y="4926868"/>
            <a:ext cx="3086498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Aft>
                <a:spcPts val="600"/>
              </a:spcAf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Roll no is: 1230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484311" y="2463351"/>
            <a:ext cx="4886344" cy="2246769"/>
          </a:xfrm>
          <a:prstGeom prst="rect">
            <a:avLst/>
          </a:prstGeom>
          <a:solidFill>
            <a:schemeClr val="bg1"/>
          </a:solidFill>
          <a:effectLst>
            <a:softEdge rad="63500"/>
          </a:effectLst>
        </p:spPr>
        <p:txBody>
          <a:bodyPr wrap="square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class StaticFinal{  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static final int ROLL_NO;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static{ 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ROLL_NO=1230;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}  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public static void main(String args[]){  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System.out.println(("Roll no is: "+ 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				StaticFinal.ROLL_NO);  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}  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404060" y="1538717"/>
            <a:ext cx="1002619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static final variable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that is not initialized during declaration can only be initialized in </a:t>
            </a:r>
            <a:r>
              <a:rPr lang="en-US" sz="2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static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block.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801563" y="2466531"/>
            <a:ext cx="4886344" cy="2246769"/>
          </a:xfrm>
          <a:prstGeom prst="rect">
            <a:avLst/>
          </a:prstGeom>
          <a:solidFill>
            <a:schemeClr val="bg1"/>
          </a:solidFill>
          <a:effectLst>
            <a:softEdge rad="63500"/>
          </a:effectLst>
        </p:spPr>
        <p:txBody>
          <a:bodyPr wrap="square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class StaticFinal{  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static final int ROLL_NO;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StaticFinal() { 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ROLL_NO=1230;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}  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public static void main(String args[]){  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System.out.println(("Roll no is: "+ 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				StaticFinal.ROLL_NO);  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}  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073715" y="4926868"/>
            <a:ext cx="4614191" cy="17851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Aft>
                <a:spcPts val="600"/>
              </a:spcAf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Error: cannot assign a value to final variable ROLL_NO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Aft>
                <a:spcPts val="600"/>
              </a:spcAf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StaticFinal(){ ROLL_NO=1230; }                   				     ^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9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9" grpId="0"/>
      <p:bldP spid="6" grpId="0" animBg="1"/>
      <p:bldP spid="10" grpId="0"/>
      <p:bldP spid="7" grpId="0" animBg="1"/>
      <p:bldP spid="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680776"/>
          </a:xfrm>
          <a:ln>
            <a:solidFill>
              <a:schemeClr val="accent4"/>
            </a:solidFill>
          </a:ln>
        </p:spPr>
        <p:txBody>
          <a:bodyPr>
            <a:noAutofit/>
          </a:bodyPr>
          <a:lstStyle/>
          <a:p>
            <a:pPr algn="l"/>
            <a:r>
              <a:rPr lang="en-IN" dirty="0">
                <a:solidFill>
                  <a:schemeClr val="accent4">
                    <a:lumMod val="75000"/>
                  </a:schemeClr>
                </a:solidFill>
                <a:latin typeface="Arial Black" panose="020B0A04020102020204" pitchFamily="34" charset="0"/>
              </a:rPr>
              <a:t>final method </a:t>
            </a:r>
            <a:endParaRPr lang="en-IN" dirty="0">
              <a:solidFill>
                <a:schemeClr val="accent4">
                  <a:lumMod val="7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522136" y="4611398"/>
            <a:ext cx="8908116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Note: 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Aft>
                <a:spcPts val="600"/>
              </a:spcAf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 Because info() is declared as 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final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it cannot be overridden in B. If you attempt to do so, a compile-time error will result.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Aft>
                <a:spcPts val="600"/>
              </a:spcAft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 Normally, </a:t>
            </a:r>
            <a:r>
              <a:rPr lang="en-US" sz="2000" b="1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Java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resolves calls to methods dynamically, at run time. This is called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late binding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However, since 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final methods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cannot be overridden, a call to one can be resolved at compile time. This is called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early binding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484311" y="2303074"/>
            <a:ext cx="8212348" cy="2308324"/>
          </a:xfrm>
          <a:prstGeom prst="rect">
            <a:avLst/>
          </a:prstGeom>
          <a:solidFill>
            <a:schemeClr val="bg1"/>
          </a:solidFill>
          <a:effectLst>
            <a:softEdge rad="63500"/>
          </a:effectLst>
        </p:spPr>
        <p:txBody>
          <a:bodyPr wrap="square">
            <a:spAutoFit/>
          </a:bodyPr>
          <a:lstStyle/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class A {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final void info() {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System.out.println("This is a final method."); }  }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class B extends A {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void info() {                       </a:t>
            </a:r>
            <a:r>
              <a:rPr lang="en-US" sz="16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ERROR! Can't override.</a:t>
            </a:r>
            <a:endParaRPr lang="en-US" sz="1600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   System.out.println("Illegal!");  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 }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404060" y="1538717"/>
            <a:ext cx="1002619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disallow a </a:t>
            </a:r>
            <a:r>
              <a:rPr lang="en-US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from being </a:t>
            </a:r>
            <a:r>
              <a:rPr lang="en-US" sz="2000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overridden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specify 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final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 a modifier at the start of its declaration. </a:t>
            </a:r>
            <a:r>
              <a:rPr lang="en-US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declared as 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final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cannot be </a:t>
            </a:r>
            <a:r>
              <a:rPr lang="en-US" sz="2000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overridden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9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9" grpId="0"/>
      <p:bldP spid="6" grpId="0" animBg="1"/>
      <p:bldP spid="1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714375"/>
          </a:xfrm>
          <a:ln>
            <a:solidFill>
              <a:schemeClr val="accent4"/>
            </a:solidFill>
          </a:ln>
        </p:spPr>
        <p:txBody>
          <a:bodyPr/>
          <a:lstStyle/>
          <a:p>
            <a:pPr algn="l"/>
            <a:r>
              <a:rPr lang="en-IN" dirty="0">
                <a:solidFill>
                  <a:schemeClr val="accent4">
                    <a:lumMod val="75000"/>
                  </a:schemeClr>
                </a:solidFill>
                <a:latin typeface="Arial Black" panose="020B0A04020102020204" pitchFamily="34" charset="0"/>
              </a:rPr>
              <a:t>final class</a:t>
            </a:r>
            <a:endParaRPr lang="en-IN" dirty="0">
              <a:solidFill>
                <a:schemeClr val="accent4">
                  <a:lumMod val="7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484311" y="1597891"/>
            <a:ext cx="1001871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Sometimes you will want to prevent a </a:t>
            </a:r>
            <a:r>
              <a:rPr lang="en-US" sz="2000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from being inherited. To do this, precede the </a:t>
            </a:r>
            <a:r>
              <a:rPr lang="en-US" sz="2000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declaration with 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final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Declaring a </a:t>
            </a:r>
            <a:r>
              <a:rPr lang="en-US" sz="2000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 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final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implicitly declares all of its </a:t>
            </a:r>
            <a:r>
              <a:rPr lang="en-US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 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final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too. 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471560" y="2621921"/>
            <a:ext cx="4333685" cy="1815882"/>
          </a:xfrm>
          <a:prstGeom prst="rect">
            <a:avLst/>
          </a:prstGeom>
          <a:solidFill>
            <a:schemeClr val="bg1"/>
          </a:solidFill>
          <a:effectLst>
            <a:softEdge rad="63500"/>
          </a:effectLst>
        </p:spPr>
        <p:txBody>
          <a:bodyPr wrap="square">
            <a:spAutoFit/>
          </a:bodyPr>
          <a:lstStyle/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final class A {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//...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class B extends A {</a:t>
            </a:r>
            <a:endParaRPr lang="en-US" sz="1600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//...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046405" y="4384092"/>
            <a:ext cx="4456616" cy="830997"/>
          </a:xfrm>
          <a:prstGeom prst="rect">
            <a:avLst/>
          </a:prstGeom>
          <a:solidFill>
            <a:schemeClr val="bg1"/>
          </a:solidFill>
          <a:effectLst>
            <a:softEdge rad="63500"/>
          </a:effectLst>
        </p:spPr>
        <p:txBody>
          <a:bodyPr wrap="square">
            <a:spAutoFit/>
          </a:bodyPr>
          <a:lstStyle/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abstract final class A {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//...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484311" y="4632047"/>
            <a:ext cx="4876297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you might expect, it is illegal to declare a 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as both </a:t>
            </a:r>
            <a:r>
              <a:rPr lang="en-US" sz="2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abstract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final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since an </a:t>
            </a:r>
            <a:r>
              <a:rPr lang="en-US" sz="2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abstract class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incomplete by itself and relies upon its </a:t>
            </a:r>
            <a:r>
              <a:rPr lang="en-US" sz="2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subclasses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provide complete implementations.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204570" y="3006642"/>
            <a:ext cx="3657966" cy="14311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Aft>
                <a:spcPts val="600"/>
              </a:spcAft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Error: cannot inherit from final A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Aft>
                <a:spcPts val="600"/>
              </a:spcAft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B extends A{               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Aft>
                <a:spcPts val="600"/>
              </a:spcAft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    ^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204570" y="5331879"/>
            <a:ext cx="469777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 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Error: illegal combination of modifiers: abstract and final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abstract final class StaticFinal{               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^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9" dur="2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/>
      <p:bldP spid="4" grpId="0" animBg="1"/>
      <p:bldP spid="7" grpId="0" animBg="1"/>
      <p:bldP spid="8" grpId="0"/>
      <p:bldP spid="9" grpId="0"/>
      <p:bldP spid="1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714375"/>
          </a:xfrm>
          <a:ln>
            <a:solidFill>
              <a:schemeClr val="accent4"/>
            </a:solidFill>
          </a:ln>
        </p:spPr>
        <p:txBody>
          <a:bodyPr>
            <a:normAutofit/>
          </a:bodyPr>
          <a:lstStyle/>
          <a:p>
            <a:pPr algn="l"/>
            <a:r>
              <a:rPr lang="en-IN" dirty="0">
                <a:solidFill>
                  <a:schemeClr val="accent4">
                    <a:lumMod val="75000"/>
                  </a:schemeClr>
                </a:solidFill>
                <a:latin typeface="Arial Black" panose="020B0A04020102020204" pitchFamily="34" charset="0"/>
              </a:rPr>
              <a:t>Object class</a:t>
            </a:r>
            <a:endParaRPr lang="en-IN" dirty="0">
              <a:solidFill>
                <a:schemeClr val="accent4">
                  <a:lumMod val="7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7" name="Title 1"/>
          <p:cNvSpPr txBox="1"/>
          <p:nvPr/>
        </p:nvSpPr>
        <p:spPr>
          <a:xfrm>
            <a:off x="1484310" y="1568486"/>
            <a:ext cx="10018712" cy="468158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342900" lvl="1" indent="-342900"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 class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a fundamental 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serves as the </a:t>
            </a:r>
            <a:r>
              <a:rPr lang="en-US" sz="2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root class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all other 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1" indent="-342900"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Every 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</a:t>
            </a:r>
            <a:r>
              <a:rPr lang="en-US" sz="2000" b="1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Java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implicitly inherits from the </a:t>
            </a:r>
            <a:r>
              <a:rPr lang="en-US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 class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If a 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does not explicitly extend another 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it extends </a:t>
            </a:r>
            <a:r>
              <a:rPr lang="en-US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 default. 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1" indent="-342900" algn="just">
              <a:spcAft>
                <a:spcPts val="1200"/>
              </a:spcAft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 class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defines several important methods that can be used by all </a:t>
            </a:r>
            <a:r>
              <a:rPr lang="en-US" sz="2000" b="1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Java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Some of the commonly used methods from the </a:t>
            </a:r>
            <a:r>
              <a:rPr lang="en-US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 class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include: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57300" lvl="3" indent="-342900" algn="just">
              <a:buFont typeface="Wingdings" panose="05000000000000000000" pitchFamily="2" charset="2"/>
              <a:buChar char="q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equals(Object obj):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to compare the content or state of two </a:t>
            </a:r>
            <a:r>
              <a:rPr lang="en-US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57300" lvl="3" indent="-342900" algn="just">
              <a:buFont typeface="Wingdings" panose="05000000000000000000" pitchFamily="2" charset="2"/>
              <a:buChar char="q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hashCode():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Returns a hash code value for the </a:t>
            </a:r>
            <a:r>
              <a:rPr lang="en-US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which is used in data structures like hash tables.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57300" lvl="3" indent="-342900" algn="just">
              <a:buFont typeface="Wingdings" panose="05000000000000000000" pitchFamily="2" charset="2"/>
              <a:buChar char="q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toString():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Returns a string representation of the </a:t>
            </a:r>
            <a:r>
              <a:rPr lang="en-US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57300" lvl="3" indent="-342900" algn="just">
              <a:buFont typeface="Wingdings" panose="05000000000000000000" pitchFamily="2" charset="2"/>
              <a:buChar char="q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getClass():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Returns the runtime class of the </a:t>
            </a:r>
            <a:r>
              <a:rPr lang="en-US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57300" lvl="3" indent="-342900" algn="just">
              <a:buFont typeface="Wingdings" panose="05000000000000000000" pitchFamily="2" charset="2"/>
              <a:buChar char="q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wait()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notify()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notifyAll()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Methods used for inter-thread communication and synchronization.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714375"/>
          </a:xfrm>
          <a:ln>
            <a:solidFill>
              <a:schemeClr val="accent4"/>
            </a:solidFill>
          </a:ln>
        </p:spPr>
        <p:txBody>
          <a:bodyPr>
            <a:normAutofit/>
          </a:bodyPr>
          <a:lstStyle/>
          <a:p>
            <a:pPr algn="l"/>
            <a:r>
              <a:rPr lang="en-IN" dirty="0">
                <a:solidFill>
                  <a:schemeClr val="accent4">
                    <a:lumMod val="75000"/>
                  </a:schemeClr>
                </a:solidFill>
                <a:latin typeface="Arial Black" panose="020B0A04020102020204" pitchFamily="34" charset="0"/>
              </a:rPr>
              <a:t>Object class methods</a:t>
            </a:r>
            <a:endParaRPr lang="en-IN" dirty="0">
              <a:solidFill>
                <a:schemeClr val="accent4">
                  <a:lumMod val="7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099692" y="3480591"/>
            <a:ext cx="4795909" cy="2893100"/>
          </a:xfrm>
          <a:prstGeom prst="rect">
            <a:avLst/>
          </a:prstGeom>
          <a:solidFill>
            <a:schemeClr val="bg1"/>
          </a:solidFill>
          <a:effectLst>
            <a:softEdge rad="63500"/>
          </a:effectLst>
        </p:spPr>
        <p:txBody>
          <a:bodyPr wrap="square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class A {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int a;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A(int x) { a = x; }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class Equals { 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public static void main(String[] args) {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A a1 = new A(10);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A a2 = new A(20);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A a3 = new A(10);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System.out.print(a1.equals(a2));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System.out.print(a1.equals(a3));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}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3777973" y="6386775"/>
            <a:ext cx="258242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false  false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484311" y="1571728"/>
            <a:ext cx="541129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 class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provides default implementa-tions for the </a:t>
            </a:r>
            <a:r>
              <a:rPr lang="en-US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However, the default implementations may not always be suitable for your specific 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so you can override them in your custom 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provide custom behavior.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7178286" y="2064819"/>
            <a:ext cx="4795909" cy="3754874"/>
          </a:xfrm>
          <a:prstGeom prst="rect">
            <a:avLst/>
          </a:prstGeom>
          <a:solidFill>
            <a:schemeClr val="bg1"/>
          </a:solidFill>
          <a:effectLst>
            <a:softEdge rad="63500"/>
          </a:effectLst>
        </p:spPr>
        <p:txBody>
          <a:bodyPr wrap="square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class A {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int a;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A(int x) { a = x; }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public boolean equals(Object ob) {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A ob1 = (A)ob;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return (ob1.a == a);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}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class Equals { 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public static void main(String[] args) {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A a1 = new A(10);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A a2 = new A(20);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A a3 = new A(10);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System.out.print(a1.equals(a2));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System.out.print(a1.equals(a3));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}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801094" y="6143507"/>
            <a:ext cx="258242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false  true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9" dur="2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0" grpId="0" animBg="1"/>
      <p:bldP spid="11" grpId="0"/>
      <p:bldP spid="7" grpId="0"/>
      <p:bldP spid="13" grpId="0" animBg="1"/>
      <p:bldP spid="1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714375"/>
          </a:xfrm>
          <a:ln>
            <a:solidFill>
              <a:schemeClr val="accent4"/>
            </a:solidFill>
          </a:ln>
        </p:spPr>
        <p:txBody>
          <a:bodyPr>
            <a:normAutofit/>
          </a:bodyPr>
          <a:lstStyle/>
          <a:p>
            <a:pPr algn="l"/>
            <a:r>
              <a:rPr lang="en-IN" dirty="0">
                <a:solidFill>
                  <a:schemeClr val="accent4">
                    <a:lumMod val="75000"/>
                  </a:schemeClr>
                </a:solidFill>
                <a:latin typeface="Arial Black" panose="020B0A04020102020204" pitchFamily="34" charset="0"/>
              </a:rPr>
              <a:t>Object class methods (Contd..)</a:t>
            </a:r>
            <a:endParaRPr lang="en-IN" dirty="0">
              <a:solidFill>
                <a:schemeClr val="accent4">
                  <a:lumMod val="7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484311" y="1659285"/>
            <a:ext cx="4926537" cy="1815882"/>
          </a:xfrm>
          <a:prstGeom prst="rect">
            <a:avLst/>
          </a:prstGeom>
          <a:solidFill>
            <a:schemeClr val="bg1"/>
          </a:solidFill>
          <a:effectLst>
            <a:softEdge rad="63500"/>
          </a:effectLst>
        </p:spPr>
        <p:txBody>
          <a:bodyPr wrap="square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class GetClass {  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public static void main(String[] args) {   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Object obj = new String("Java");   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Class a = obj.getClass();   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System.out.println("Class of Object 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	              obj is : " + a.getName());   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}   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 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057796" y="2455075"/>
            <a:ext cx="391165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of Object obj is : java.lang.String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484310" y="3734277"/>
            <a:ext cx="6303163" cy="2031325"/>
          </a:xfrm>
          <a:prstGeom prst="rect">
            <a:avLst/>
          </a:prstGeom>
          <a:solidFill>
            <a:schemeClr val="bg1"/>
          </a:solidFill>
          <a:effectLst>
            <a:softEdge rad="63500"/>
          </a:effectLst>
        </p:spPr>
        <p:txBody>
          <a:bodyPr wrap="square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class Student { 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int Roll_no;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Student(int r) { Roll_no = r; }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public static void main(String[] args) {   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Student obj = new Student(4002);   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System.out.println(obj);              </a:t>
            </a:r>
            <a:r>
              <a:rPr lang="en-US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//implicit</a:t>
            </a:r>
            <a:endParaRPr lang="en-US" sz="1400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 System.out.println(obj.toString());   </a:t>
            </a:r>
            <a:r>
              <a:rPr lang="en-US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//explicit  </a:t>
            </a:r>
            <a:endParaRPr lang="en-US" sz="1400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}   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 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8737545" y="4749939"/>
            <a:ext cx="330809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Student@379619aa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Student@379619aa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048838" y="6024712"/>
            <a:ext cx="8557008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Note: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Default behavior of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toString()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to print class name, then @, then unsigned hexadecimal representation of the </a:t>
            </a:r>
            <a:r>
              <a:rPr lang="en-US" sz="2000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hash code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of the </a:t>
            </a:r>
            <a:r>
              <a:rPr lang="en-US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  <p:bldP spid="8" grpId="0"/>
      <p:bldP spid="11" grpId="0" animBg="1"/>
      <p:bldP spid="12" grpId="0"/>
      <p:bldP spid="13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76274"/>
            <a:ext cx="10018713" cy="724509"/>
          </a:xfrm>
          <a:ln>
            <a:solidFill>
              <a:schemeClr val="accent4"/>
            </a:solidFill>
          </a:ln>
        </p:spPr>
        <p:txBody>
          <a:bodyPr>
            <a:noAutofit/>
          </a:bodyPr>
          <a:lstStyle/>
          <a:p>
            <a:pPr algn="l"/>
            <a:r>
              <a:rPr lang="en-IN" dirty="0">
                <a:solidFill>
                  <a:schemeClr val="accent4">
                    <a:lumMod val="75000"/>
                  </a:schemeClr>
                </a:solidFill>
                <a:latin typeface="Arial Black" panose="020B0A04020102020204" pitchFamily="34" charset="0"/>
              </a:rPr>
              <a:t>Cloning objects</a:t>
            </a:r>
            <a:endParaRPr lang="en-IN" dirty="0">
              <a:solidFill>
                <a:schemeClr val="accent4">
                  <a:lumMod val="7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702019" y="5564048"/>
            <a:ext cx="205397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101  Suvojit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101  Suvojit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303585" y="3846193"/>
            <a:ext cx="6679642" cy="2893100"/>
          </a:xfrm>
          <a:prstGeom prst="rect">
            <a:avLst/>
          </a:prstGeom>
          <a:solidFill>
            <a:schemeClr val="bg1"/>
          </a:solidFill>
          <a:effectLst>
            <a:softEdge rad="63500"/>
          </a:effectLst>
        </p:spPr>
        <p:txBody>
          <a:bodyPr wrap="square">
            <a:spAutoFit/>
          </a:bodyPr>
          <a:lstStyle/>
          <a:p>
            <a:r>
              <a:rPr lang="en-I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class Student implements Cloneable{  </a:t>
            </a:r>
            <a:endParaRPr lang="en-IN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I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   int id;  String name;  </a:t>
            </a:r>
            <a:endParaRPr lang="en-IN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I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   Student(int i, String n){  </a:t>
            </a:r>
            <a:endParaRPr lang="en-IN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I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      id = i;  name = n;  }  </a:t>
            </a:r>
            <a:endParaRPr lang="en-IN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I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public Object clone()throws CloneNotSupportedException{  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return super.clone();  }  </a:t>
            </a:r>
            <a:endParaRPr lang="en-IN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I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   public static void main(String args[]){  </a:t>
            </a:r>
            <a:endParaRPr lang="en-IN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I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      try {Student s1 = new Student(101, "Suvojit");  </a:t>
            </a:r>
            <a:endParaRPr lang="en-IN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I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           Student s2 = (Student) s1.clone();      </a:t>
            </a:r>
            <a:endParaRPr lang="en-IN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I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           System.out.println(s1.id+" "+s1.name);</a:t>
            </a:r>
            <a:endParaRPr lang="en-IN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I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           System.out.println(s2.id+" "+s2.name);</a:t>
            </a:r>
            <a:endParaRPr lang="en-IN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I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      } catch(CloneNotSupportedException c) {} }</a:t>
            </a:r>
            <a:endParaRPr lang="en-IN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I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 </a:t>
            </a:r>
            <a:endParaRPr lang="en-IN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484310" y="1565256"/>
            <a:ext cx="10018713" cy="224676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</a:t>
            </a:r>
            <a:r>
              <a:rPr lang="en-US" sz="20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clone()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 is defined in the Object class. Syntax of the </a:t>
            </a:r>
            <a:r>
              <a:rPr lang="en-US" sz="20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clone()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 is as follows: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Bef>
                <a:spcPts val="1800"/>
              </a:spcBef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	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protected Object clone() throws CloneNotSupportedException</a:t>
            </a:r>
            <a:endParaRPr lang="en-US" sz="20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 </a:t>
            </a:r>
            <a:r>
              <a:rPr lang="en-US" sz="20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clone()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 saves the extra processing task for creating the exact copy of an </a:t>
            </a:r>
            <a:r>
              <a:rPr lang="en-US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If we perform it by using the new keyword, it will take a lot of processing time to be performed that is why we use </a:t>
            </a:r>
            <a:r>
              <a:rPr lang="en-US" sz="200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 cloning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9" dur="2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0" grpId="0"/>
      <p:bldP spid="7" grpId="0" animBg="1"/>
      <p:bldP spid="8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76274"/>
            <a:ext cx="10018713" cy="724509"/>
          </a:xfrm>
          <a:ln>
            <a:solidFill>
              <a:schemeClr val="accent4"/>
            </a:solidFill>
          </a:ln>
        </p:spPr>
        <p:txBody>
          <a:bodyPr>
            <a:noAutofit/>
          </a:bodyPr>
          <a:lstStyle/>
          <a:p>
            <a:pPr algn="l"/>
            <a:r>
              <a:rPr lang="en-IN" dirty="0">
                <a:solidFill>
                  <a:schemeClr val="accent4">
                    <a:lumMod val="75000"/>
                  </a:schemeClr>
                </a:solidFill>
                <a:latin typeface="Arial Black" panose="020B0A04020102020204" pitchFamily="34" charset="0"/>
              </a:rPr>
              <a:t>Types of Inheritance</a:t>
            </a:r>
            <a:endParaRPr lang="en-IN" dirty="0">
              <a:solidFill>
                <a:schemeClr val="accent4">
                  <a:lumMod val="7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484309" y="1562034"/>
            <a:ext cx="1001871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1" indent="-342900"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Inheritance can be broadly classified into two types: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 Inheritance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Inheritance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173287" y="2269920"/>
            <a:ext cx="93297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 Inheritance: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or more subclasses inherit from a single superclass. 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98361" y="2834649"/>
            <a:ext cx="1544461" cy="1691302"/>
          </a:xfrm>
          <a:prstGeom prst="rect">
            <a:avLst/>
          </a:prstGeom>
          <a:effectLst>
            <a:softEdge rad="63500"/>
          </a:effectLst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29394" y="2823362"/>
            <a:ext cx="1957913" cy="1672384"/>
          </a:xfrm>
          <a:prstGeom prst="rect">
            <a:avLst/>
          </a:prstGeom>
          <a:effectLst>
            <a:softEdge rad="63500"/>
          </a:effectLst>
        </p:spPr>
      </p:pic>
      <p:pic>
        <p:nvPicPr>
          <p:cNvPr id="9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073879" y="2642397"/>
            <a:ext cx="1683070" cy="1982704"/>
          </a:xfrm>
          <a:prstGeom prst="rect">
            <a:avLst/>
          </a:prstGeom>
          <a:effectLst>
            <a:softEdge rad="63500"/>
          </a:effectLst>
        </p:spPr>
      </p:pic>
      <p:sp>
        <p:nvSpPr>
          <p:cNvPr id="11" name="TextBox 10"/>
          <p:cNvSpPr txBox="1"/>
          <p:nvPr/>
        </p:nvSpPr>
        <p:spPr>
          <a:xfrm>
            <a:off x="2173287" y="4649078"/>
            <a:ext cx="93297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Inheritance: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One subclass inherits from multiple superclasses. 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45622" y="5073165"/>
            <a:ext cx="1957914" cy="1649850"/>
          </a:xfrm>
          <a:prstGeom prst="rect">
            <a:avLst/>
          </a:prstGeom>
          <a:effectLst>
            <a:softEdge rad="63500"/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4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8" grpId="0"/>
      <p:bldP spid="10" grpId="0"/>
      <p:bldP spid="1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76274"/>
            <a:ext cx="10018713" cy="724509"/>
          </a:xfrm>
          <a:ln>
            <a:solidFill>
              <a:schemeClr val="accent4"/>
            </a:solidFill>
          </a:ln>
        </p:spPr>
        <p:txBody>
          <a:bodyPr>
            <a:noAutofit/>
          </a:bodyPr>
          <a:lstStyle/>
          <a:p>
            <a:pPr algn="l"/>
            <a:r>
              <a:rPr lang="en-IN" dirty="0">
                <a:solidFill>
                  <a:schemeClr val="accent4">
                    <a:lumMod val="75000"/>
                  </a:schemeClr>
                </a:solidFill>
                <a:latin typeface="Arial Black" panose="020B0A04020102020204" pitchFamily="34" charset="0"/>
              </a:rPr>
              <a:t>Single Inheritance</a:t>
            </a:r>
            <a:endParaRPr lang="en-IN" dirty="0">
              <a:solidFill>
                <a:schemeClr val="accent4">
                  <a:lumMod val="7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484311" y="1631834"/>
            <a:ext cx="4805957" cy="3754874"/>
          </a:xfrm>
          <a:prstGeom prst="rect">
            <a:avLst/>
          </a:prstGeom>
          <a:solidFill>
            <a:schemeClr val="bg1"/>
          </a:solidFill>
          <a:effectLst>
            <a:softEdge rad="63500"/>
          </a:effectLst>
        </p:spPr>
        <p:txBody>
          <a:bodyPr wrap="square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class A {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int a;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A(int x) { a = x; }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class B extends A {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int b;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B(int x, int y) {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super(x);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b = y;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}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class MainClass {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public static void main(String[] args) {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B obj = new B(2, 3);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System.out.println(obj.a+</a:t>
            </a:r>
            <a:r>
              <a:rPr lang="en-I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I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+obj.b);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}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125184" y="5583614"/>
            <a:ext cx="122053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2  3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6697067" y="1631834"/>
            <a:ext cx="4805957" cy="4401205"/>
          </a:xfrm>
          <a:prstGeom prst="rect">
            <a:avLst/>
          </a:prstGeom>
          <a:solidFill>
            <a:schemeClr val="bg1"/>
          </a:solidFill>
          <a:effectLst>
            <a:softEdge rad="63500"/>
          </a:effectLst>
        </p:spPr>
        <p:txBody>
          <a:bodyPr wrap="square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class A {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void fun() { 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System.out.print(</a:t>
            </a:r>
            <a:r>
              <a:rPr lang="en-I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Hello </a:t>
            </a:r>
            <a:r>
              <a:rPr lang="en-I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); }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class B extends A {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void fun(int x) { 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System.out.print(</a:t>
            </a:r>
            <a:r>
              <a:rPr lang="en-I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x+ " PM "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); }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class C extends A {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void fun() { 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System.out.print(</a:t>
            </a:r>
            <a:r>
              <a:rPr lang="en-I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"Bye"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); }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class MainClass {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public static void main(String[] args) {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A obj1 = new A();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B obj2 = new B();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C obj3 = new C(); 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obj1.fun(); obj2.fun(8); obj3.fun();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}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698111" y="6033039"/>
            <a:ext cx="189210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Hello 8 PM Bye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4" dur="2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24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2" grpId="0" animBg="1"/>
      <p:bldP spid="14" grpId="0"/>
      <p:bldP spid="15" grpId="0" animBg="1"/>
      <p:bldP spid="16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76274"/>
            <a:ext cx="10018713" cy="724509"/>
          </a:xfrm>
          <a:ln>
            <a:solidFill>
              <a:schemeClr val="accent4"/>
            </a:solidFill>
          </a:ln>
        </p:spPr>
        <p:txBody>
          <a:bodyPr>
            <a:noAutofit/>
          </a:bodyPr>
          <a:lstStyle/>
          <a:p>
            <a:pPr algn="l"/>
            <a:r>
              <a:rPr lang="en-IN" dirty="0">
                <a:solidFill>
                  <a:schemeClr val="accent4">
                    <a:lumMod val="75000"/>
                  </a:schemeClr>
                </a:solidFill>
                <a:latin typeface="Arial Black" panose="020B0A04020102020204" pitchFamily="34" charset="0"/>
              </a:rPr>
              <a:t>Single Inheritance (Contd..)</a:t>
            </a:r>
            <a:endParaRPr lang="en-IN" dirty="0">
              <a:solidFill>
                <a:schemeClr val="accent4">
                  <a:lumMod val="7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984391" y="1631834"/>
            <a:ext cx="5401147" cy="4401205"/>
          </a:xfrm>
          <a:prstGeom prst="rect">
            <a:avLst/>
          </a:prstGeom>
          <a:solidFill>
            <a:schemeClr val="bg1"/>
          </a:solidFill>
          <a:effectLst>
            <a:softEdge rad="63500"/>
          </a:effectLst>
        </p:spPr>
        <p:txBody>
          <a:bodyPr wrap="square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class A {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A() { 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System.out.println(</a:t>
            </a:r>
            <a:r>
              <a:rPr lang="en-I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I am in Class A.</a:t>
            </a:r>
            <a:r>
              <a:rPr lang="en-I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}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class B extends A {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B() { 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System.out.println("I am in Class B."); 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}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class C extends B {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C() { 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System.out.println(</a:t>
            </a:r>
            <a:r>
              <a:rPr lang="en-I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I am in Class C.</a:t>
            </a:r>
            <a:r>
              <a:rPr lang="en-I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); 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}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class MainClass {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public static void main(String[] args) {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C obj = new C();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}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516472" y="4495641"/>
            <a:ext cx="189210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am in Class A.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am in Class B.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am in Class C.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5" grpId="0" animBg="1"/>
      <p:bldP spid="16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76274"/>
            <a:ext cx="10018713" cy="724509"/>
          </a:xfrm>
          <a:ln>
            <a:solidFill>
              <a:schemeClr val="accent4"/>
            </a:solidFill>
          </a:ln>
        </p:spPr>
        <p:txBody>
          <a:bodyPr>
            <a:noAutofit/>
          </a:bodyPr>
          <a:lstStyle/>
          <a:p>
            <a:pPr algn="l"/>
            <a:r>
              <a:rPr lang="en-IN" dirty="0">
                <a:solidFill>
                  <a:schemeClr val="accent4">
                    <a:lumMod val="75000"/>
                  </a:schemeClr>
                </a:solidFill>
                <a:latin typeface="Arial Black" panose="020B0A04020102020204" pitchFamily="34" charset="0"/>
              </a:rPr>
              <a:t>Multiple Inheritance</a:t>
            </a:r>
            <a:endParaRPr lang="en-IN" dirty="0">
              <a:solidFill>
                <a:schemeClr val="accent4">
                  <a:lumMod val="7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376278" y="2093263"/>
            <a:ext cx="5401147" cy="4401205"/>
          </a:xfrm>
          <a:prstGeom prst="rect">
            <a:avLst/>
          </a:prstGeom>
          <a:solidFill>
            <a:schemeClr val="bg1"/>
          </a:solidFill>
          <a:effectLst>
            <a:softEdge rad="63500"/>
          </a:effectLst>
        </p:spPr>
        <p:txBody>
          <a:bodyPr wrap="square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class A {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A() { 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System.out.println(</a:t>
            </a:r>
            <a:r>
              <a:rPr lang="en-I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I am in Class A.</a:t>
            </a:r>
            <a:r>
              <a:rPr lang="en-I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}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class B {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B() { 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System.out.println("I am in Class B."); 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}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class C extends A, B {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C() { 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System.out.println(</a:t>
            </a:r>
            <a:r>
              <a:rPr lang="en-I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I am in Class C.</a:t>
            </a:r>
            <a:r>
              <a:rPr lang="en-I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); 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}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class MainClass {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public static void main(String[] args) {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C obj = new C();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}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516472" y="4495641"/>
            <a:ext cx="2986552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Compile time error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Error:   '{' expected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C extends A, B {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		 ^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484311" y="1590066"/>
            <a:ext cx="1001871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Java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does not support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inheritance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avoid the ambiguity caused by it. 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9" dur="2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5" grpId="0" animBg="1"/>
      <p:bldP spid="16" grpId="0"/>
      <p:bldP spid="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76274"/>
            <a:ext cx="10018713" cy="724509"/>
          </a:xfrm>
          <a:ln>
            <a:solidFill>
              <a:schemeClr val="accent4"/>
            </a:solidFill>
          </a:ln>
        </p:spPr>
        <p:txBody>
          <a:bodyPr>
            <a:noAutofit/>
          </a:bodyPr>
          <a:lstStyle/>
          <a:p>
            <a:pPr algn="l"/>
            <a:r>
              <a:rPr lang="en-IN" dirty="0">
                <a:solidFill>
                  <a:schemeClr val="accent4">
                    <a:lumMod val="75000"/>
                  </a:schemeClr>
                </a:solidFill>
                <a:latin typeface="Arial Black" panose="020B0A04020102020204" pitchFamily="34" charset="0"/>
              </a:rPr>
              <a:t>Hybrid Inheritance</a:t>
            </a:r>
            <a:endParaRPr lang="en-IN" dirty="0">
              <a:solidFill>
                <a:schemeClr val="accent4">
                  <a:lumMod val="7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484311" y="1590066"/>
            <a:ext cx="10018713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 can have a situation where there is a mix of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inheritances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one inheritance hierarchy. This is referred to as </a:t>
            </a:r>
            <a:r>
              <a:rPr lang="en-US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Hybrid Inheritance.</a:t>
            </a:r>
            <a:endParaRPr lang="en-US" sz="2000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Due to the presence of multiple inheritance in the structure, </a:t>
            </a:r>
            <a:r>
              <a:rPr lang="en-US" sz="2000" b="1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Java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does not support </a:t>
            </a:r>
            <a:r>
              <a:rPr lang="en-US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hybrid inheritance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484311" y="3954585"/>
            <a:ext cx="6094324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Because of the resemblance to the diamond structure, this </a:t>
            </a:r>
            <a:r>
              <a:rPr lang="en-US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hybrid inheritance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sometimes termed as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“Diamond Problem”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57050" y="3139814"/>
            <a:ext cx="2706910" cy="3231136"/>
          </a:xfrm>
          <a:prstGeom prst="rect">
            <a:avLst/>
          </a:prstGeom>
          <a:effectLst>
            <a:softEdge rad="63500"/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4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/>
      <p:bldP spid="7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76274"/>
            <a:ext cx="10018713" cy="724509"/>
          </a:xfrm>
          <a:ln>
            <a:solidFill>
              <a:schemeClr val="accent4"/>
            </a:solidFill>
          </a:ln>
        </p:spPr>
        <p:txBody>
          <a:bodyPr>
            <a:noAutofit/>
          </a:bodyPr>
          <a:lstStyle/>
          <a:p>
            <a:pPr algn="l"/>
            <a:r>
              <a:rPr lang="en-IN" dirty="0">
                <a:solidFill>
                  <a:schemeClr val="accent4">
                    <a:lumMod val="75000"/>
                  </a:schemeClr>
                </a:solidFill>
                <a:latin typeface="Arial Black" panose="020B0A04020102020204" pitchFamily="34" charset="0"/>
              </a:rPr>
              <a:t>Diamond Problem</a:t>
            </a:r>
            <a:endParaRPr lang="en-IN" dirty="0">
              <a:solidFill>
                <a:schemeClr val="accent4">
                  <a:lumMod val="7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484311" y="1671232"/>
            <a:ext cx="5401147" cy="4401205"/>
          </a:xfrm>
          <a:prstGeom prst="rect">
            <a:avLst/>
          </a:prstGeom>
          <a:solidFill>
            <a:schemeClr val="bg1"/>
          </a:solidFill>
          <a:effectLst>
            <a:softEdge rad="63500"/>
          </a:effectLst>
        </p:spPr>
        <p:txBody>
          <a:bodyPr wrap="square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class A {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A() { 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System.out.println(</a:t>
            </a:r>
            <a:r>
              <a:rPr lang="en-I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I am in Class A.</a:t>
            </a:r>
            <a:r>
              <a:rPr lang="en-I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}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class B extends A {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B() { 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System.out.println("I am in Class B."); 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}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class C extends A {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C() { 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System.out.println(</a:t>
            </a:r>
            <a:r>
              <a:rPr lang="en-I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I am in Class C.</a:t>
            </a:r>
            <a:r>
              <a:rPr lang="en-I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); 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}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class D extends B, C {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D() {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System.out.println(</a:t>
            </a:r>
            <a:r>
              <a:rPr lang="en-I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I am in Class D.</a:t>
            </a:r>
            <a:r>
              <a:rPr lang="en-IN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"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}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 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156939" y="1671232"/>
            <a:ext cx="4850841" cy="1169551"/>
          </a:xfrm>
          <a:prstGeom prst="rect">
            <a:avLst/>
          </a:prstGeom>
          <a:solidFill>
            <a:schemeClr val="bg1"/>
          </a:solidFill>
          <a:effectLst>
            <a:softEdge rad="63500"/>
          </a:effectLst>
        </p:spPr>
        <p:txBody>
          <a:bodyPr wrap="square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class MainClass {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public static void main(String[] args) {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D obj = new D();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}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IN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089083" y="3871834"/>
            <a:ext cx="2986552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Compile time error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Error:   '{' expected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D extends B, C {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		 ^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7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8" grpId="0" animBg="1"/>
      <p:bldP spid="9" grpId="0" animBg="1"/>
      <p:bldP spid="10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76275"/>
            <a:ext cx="10018713" cy="714375"/>
          </a:xfrm>
          <a:ln>
            <a:solidFill>
              <a:schemeClr val="accent4"/>
            </a:solidFill>
          </a:ln>
        </p:spPr>
        <p:txBody>
          <a:bodyPr>
            <a:normAutofit/>
          </a:bodyPr>
          <a:lstStyle/>
          <a:p>
            <a:pPr algn="l"/>
            <a:r>
              <a:rPr lang="en-IN" dirty="0">
                <a:solidFill>
                  <a:schemeClr val="accent4">
                    <a:lumMod val="75000"/>
                  </a:schemeClr>
                </a:solidFill>
                <a:latin typeface="Arial Black" panose="020B0A04020102020204" pitchFamily="34" charset="0"/>
              </a:rPr>
              <a:t>Summary</a:t>
            </a:r>
            <a:endParaRPr lang="en-IN" dirty="0">
              <a:solidFill>
                <a:schemeClr val="accent4">
                  <a:lumMod val="7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9" name="Title 1"/>
          <p:cNvSpPr txBox="1"/>
          <p:nvPr/>
        </p:nvSpPr>
        <p:spPr>
          <a:xfrm>
            <a:off x="7238999" y="1770624"/>
            <a:ext cx="3228975" cy="2191776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l"/>
            <a:endParaRPr lang="en-IN" sz="1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484312" y="1770624"/>
            <a:ext cx="10018712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Today, we learned about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abstract classes and methods</a:t>
            </a:r>
            <a:endParaRPr lang="en-IN" sz="2000" dirty="0">
              <a:solidFill>
                <a:schemeClr val="accent4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dirty="0">
              <a:solidFill>
                <a:schemeClr val="accent4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final variables, blank final variables and uses, final method, final class</a:t>
            </a:r>
            <a:endParaRPr lang="en-IN"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 class and methods</a:t>
            </a:r>
            <a:endParaRPr lang="en-IN"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Cloning objects using clone() method</a:t>
            </a:r>
            <a:endParaRPr lang="en-IN"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Types of Inheritance</a:t>
            </a:r>
            <a:endParaRPr lang="en-IN"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Diamond Problem</a:t>
            </a:r>
            <a:endParaRPr lang="en-IN"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8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6" name="Picture 14" descr="Thank You Images – Browse 301,010 Stock Photos, Vectors, and Video | Adobe  Stock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6925" y="1714500"/>
            <a:ext cx="8058150" cy="3429000"/>
          </a:xfrm>
          <a:prstGeom prst="rect">
            <a:avLst/>
          </a:prstGeom>
          <a:noFill/>
          <a:effectLst>
            <a:softEdge rad="6350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>
            <a:fillRect/>
          </a:stretch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0</TotalTime>
  <Words>14069</Words>
  <Application>WPS Presentation</Application>
  <PresentationFormat>Widescreen</PresentationFormat>
  <Paragraphs>579</Paragraphs>
  <Slides>25</Slides>
  <Notes>21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25</vt:i4>
      </vt:variant>
    </vt:vector>
  </HeadingPairs>
  <TitlesOfParts>
    <vt:vector size="37" baseType="lpstr">
      <vt:lpstr>Arial</vt:lpstr>
      <vt:lpstr>SimSun</vt:lpstr>
      <vt:lpstr>Wingdings</vt:lpstr>
      <vt:lpstr>Arial</vt:lpstr>
      <vt:lpstr>Arial Black</vt:lpstr>
      <vt:lpstr>Times New Roman</vt:lpstr>
      <vt:lpstr>Courier New</vt:lpstr>
      <vt:lpstr>Corbel</vt:lpstr>
      <vt:lpstr>Microsoft YaHei</vt:lpstr>
      <vt:lpstr>Arial Unicode MS</vt:lpstr>
      <vt:lpstr>Calibri</vt:lpstr>
      <vt:lpstr>Parallax</vt:lpstr>
      <vt:lpstr>JAVA Programming</vt:lpstr>
      <vt:lpstr>TOPICs to be discussed</vt:lpstr>
      <vt:lpstr>Let’s START …!!!</vt:lpstr>
      <vt:lpstr>abstract classes and methods</vt:lpstr>
      <vt:lpstr>abstract classes and methods</vt:lpstr>
      <vt:lpstr>abstract class (Example)</vt:lpstr>
      <vt:lpstr>abstract classes (Contd..)</vt:lpstr>
      <vt:lpstr>abstract classes (Contd..)</vt:lpstr>
      <vt:lpstr>final variable </vt:lpstr>
      <vt:lpstr>Use of blank final variable</vt:lpstr>
      <vt:lpstr>static final variable</vt:lpstr>
      <vt:lpstr>final method </vt:lpstr>
      <vt:lpstr>final class</vt:lpstr>
      <vt:lpstr>Object class</vt:lpstr>
      <vt:lpstr>Object class methods</vt:lpstr>
      <vt:lpstr>Object class methods (Contd..)</vt:lpstr>
      <vt:lpstr>Cloning objects</vt:lpstr>
      <vt:lpstr>Types of Inheritance</vt:lpstr>
      <vt:lpstr>Single Inheritance</vt:lpstr>
      <vt:lpstr>Single Inheritance (Contd..)</vt:lpstr>
      <vt:lpstr>Multiple Inheritance</vt:lpstr>
      <vt:lpstr>Hybrid Inheritance</vt:lpstr>
      <vt:lpstr>Diamond Problem</vt:lpstr>
      <vt:lpstr>Summary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 Programming</dc:title>
  <dc:creator>Suvojit Dhara</dc:creator>
  <cp:lastModifiedBy>syed.hussain</cp:lastModifiedBy>
  <cp:revision>358</cp:revision>
  <dcterms:created xsi:type="dcterms:W3CDTF">2024-06-05T06:37:00Z</dcterms:created>
  <dcterms:modified xsi:type="dcterms:W3CDTF">2025-09-09T05:14:00Z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D3FC9E16F7F54A80937A6C936F24D98B_12</vt:lpwstr>
  </property>
  <property fmtid="{D5CDD505-2E9C-101B-9397-08002B2CF9AE}" pid="3" name="KSOProductBuildVer">
    <vt:lpwstr>1033-12.2.0.21931</vt:lpwstr>
  </property>
</Properties>
</file>